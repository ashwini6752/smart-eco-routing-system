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Lst>
  <p:sldSz cx="12192000" cy="6858000"/>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730024567"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IN"/>
          </a:p>
        </p:txBody>
      </p:sp>
      <p:sp>
        <p:nvSpPr>
          <p:cNvPr id="1372422019"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7E2DE769-BAA5-48BE-A46A-25DDB1583D72}" type="datetimeFigureOut">
              <a:rPr lang="en-IN"/>
              <a:t>17-10-2025</a:t>
            </a:fld>
            <a:endParaRPr lang="en-IN"/>
          </a:p>
        </p:txBody>
      </p:sp>
      <p:sp>
        <p:nvSpPr>
          <p:cNvPr id="72077213"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IN"/>
          </a:p>
        </p:txBody>
      </p:sp>
      <p:sp>
        <p:nvSpPr>
          <p:cNvPr id="146539409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endParaRPr lang="en-IN"/>
          </a:p>
        </p:txBody>
      </p:sp>
      <p:sp>
        <p:nvSpPr>
          <p:cNvPr id="90349256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IN"/>
          </a:p>
        </p:txBody>
      </p:sp>
      <p:sp>
        <p:nvSpPr>
          <p:cNvPr id="89883578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431C2E6E-D3BA-475F-BE22-A0A3CB19508F}" type="slidenum">
              <a:rPr lang="en-IN"/>
              <a:t>‹#›</a:t>
            </a:fld>
            <a:endParaRPr lang="en-IN"/>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73039590" name="Slide Image Placeholder 1"/>
          <p:cNvSpPr>
            <a:spLocks noGrp="1" noRot="1" noChangeAspect="1"/>
          </p:cNvSpPr>
          <p:nvPr>
            <p:ph type="sldImg"/>
          </p:nvPr>
        </p:nvSpPr>
        <p:spPr bwMode="auto"/>
        <p:txBody>
          <a:bodyPr/>
          <a:lstStyle/>
          <a:p>
            <a:endParaRPr lang="en-IN"/>
          </a:p>
        </p:txBody>
      </p:sp>
      <p:sp>
        <p:nvSpPr>
          <p:cNvPr id="1976879768" name="Notes Placeholder 2"/>
          <p:cNvSpPr>
            <a:spLocks noGrp="1"/>
          </p:cNvSpPr>
          <p:nvPr>
            <p:ph type="body" idx="1"/>
          </p:nvPr>
        </p:nvSpPr>
        <p:spPr bwMode="auto"/>
        <p:txBody>
          <a:bodyPr/>
          <a:lstStyle/>
          <a:p>
            <a:pPr>
              <a:defRPr/>
            </a:pPr>
            <a:endParaRPr/>
          </a:p>
          <a:p>
            <a:pPr>
              <a:defRPr/>
            </a:pPr>
            <a:endParaRPr lang="en-IN"/>
          </a:p>
        </p:txBody>
      </p:sp>
      <p:sp>
        <p:nvSpPr>
          <p:cNvPr id="453273066" name="Slide Number Placeholder 3"/>
          <p:cNvSpPr>
            <a:spLocks noGrp="1"/>
          </p:cNvSpPr>
          <p:nvPr>
            <p:ph type="sldNum" sz="quarter" idx="5"/>
          </p:nvPr>
        </p:nvSpPr>
        <p:spPr bwMode="auto"/>
        <p:txBody>
          <a:bodyPr/>
          <a:lstStyle/>
          <a:p>
            <a:pPr>
              <a:defRPr/>
            </a:pPr>
            <a:fld id="{07CB1601-AACA-4C6C-8109-6C66B7CB2A67}" type="slidenum">
              <a:rPr lang="en-IN"/>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09DED50-C661-7E27-F37B-C1820CE90474}"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604BACB-2792-65DA-5BEF-3B5C95C6FD1A}"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97BDAB9-8D93-9504-A94E-29983EF830D7}"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465A5E3-0968-F74A-7356-06DD7DD90A0A}"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53228E6-D09F-474A-F5F2-6C04A171365C}"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D5C3AF8-991D-888B-E7A2-C54A578CE373}"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0FE3586-2092-156D-9093-56BA94DB64DD}"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2236060-3672-EF7A-3C14-6F4FA956B0C7}"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208F73-0A53-DD66-2C29-20B2BC1295F4}"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09A6699-3F06-3E68-55DC-F81583B1F19A}"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8E92D7-B94F-0F65-0B4D-6AEE3D9D79D3}"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92475882" name="Slide Image Placeholder 1"/>
          <p:cNvSpPr>
            <a:spLocks noGrp="1" noRot="1" noChangeAspect="1"/>
          </p:cNvSpPr>
          <p:nvPr>
            <p:ph type="sldImg" idx="2"/>
          </p:nvPr>
        </p:nvSpPr>
        <p:spPr bwMode="auto"/>
        <p:txBody>
          <a:bodyPr/>
          <a:lstStyle/>
          <a:p>
            <a:endParaRPr lang="en-IN"/>
          </a:p>
        </p:txBody>
      </p:sp>
      <p:sp>
        <p:nvSpPr>
          <p:cNvPr id="1476943989" name="Text Placeholder 2"/>
          <p:cNvSpPr>
            <a:spLocks noGrp="1"/>
          </p:cNvSpPr>
          <p:nvPr>
            <p:ph type="body" idx="3"/>
          </p:nvPr>
        </p:nvSpPr>
        <p:spPr bwMode="auto"/>
        <p:txBody>
          <a:bodyPr/>
          <a:lstStyle/>
          <a:p>
            <a:pPr>
              <a:defRPr/>
            </a:pP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1386AB0-8B5D-2661-AD45-E9466F3B8647}"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9674EB1-5AC1-ECB2-E12A-9BADAB6478B6}"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8F869B2-AA97-21FB-D998-7C7D6A05480C}" type="slidenum">
              <a:rPr/>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userDrawn="1">
  <p:cSld name="Title Slide">
    <p:spTree>
      <p:nvGrpSpPr>
        <p:cNvPr id="1" name=""/>
        <p:cNvGrpSpPr/>
        <p:nvPr/>
      </p:nvGrpSpPr>
      <p:grpSpPr bwMode="auto">
        <a:xfrm>
          <a:off x="0" y="0"/>
          <a:ext cx="0" cy="0"/>
          <a:chOff x="0" y="0"/>
          <a:chExt cx="0" cy="0"/>
        </a:xfrm>
      </p:grpSpPr>
      <p:grpSp>
        <p:nvGrpSpPr>
          <p:cNvPr id="620461622" name="Group 6"/>
          <p:cNvGrpSpPr/>
          <p:nvPr/>
        </p:nvGrpSpPr>
        <p:grpSpPr bwMode="auto">
          <a:xfrm>
            <a:off x="0" y="-8467"/>
            <a:ext cx="12192000" cy="6866466"/>
            <a:chOff x="0" y="-8467"/>
            <a:chExt cx="12192000" cy="6866466"/>
          </a:xfrm>
        </p:grpSpPr>
        <p:cxnSp>
          <p:nvCxnSpPr>
            <p:cNvPr id="32" name="Straight Connector 31"/>
            <p:cNvCxnSpPr/>
            <p:nvPr/>
          </p:nvCxnSpPr>
          <p:spPr bwMode="auto">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bwMode="auto">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bwMode="auto">
            <a:xfrm>
              <a:off x="9181476" y="-8467"/>
              <a:ext cx="3007349" cy="6866466"/>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bwMode="auto">
            <a:xfrm>
              <a:off x="9603442" y="-8467"/>
              <a:ext cx="2588558" cy="6866466"/>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bwMode="auto">
            <a:xfrm>
              <a:off x="8932333" y="3048000"/>
              <a:ext cx="3259666"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bwMode="auto">
            <a:xfrm>
              <a:off x="9334500" y="-8467"/>
              <a:ext cx="2854326" cy="6866466"/>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bwMode="auto">
            <a:xfrm>
              <a:off x="10898730" y="-8467"/>
              <a:ext cx="1290094" cy="6866466"/>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bwMode="auto">
            <a:xfrm>
              <a:off x="10938999" y="-8467"/>
              <a:ext cx="1249825" cy="6866466"/>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bwMode="auto">
            <a:xfrm>
              <a:off x="10371666" y="3589867"/>
              <a:ext cx="1817158"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bwMode="auto">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1398717576" name="Title 1"/>
          <p:cNvSpPr>
            <a:spLocks noGrp="1"/>
          </p:cNvSpPr>
          <p:nvPr>
            <p:ph type="ctrTitle"/>
          </p:nvPr>
        </p:nvSpPr>
        <p:spPr bwMode="auto">
          <a:xfrm>
            <a:off x="1507067" y="2404534"/>
            <a:ext cx="7766936" cy="1646302"/>
          </a:xfrm>
        </p:spPr>
        <p:txBody>
          <a:bodyPr anchor="b">
            <a:noAutofit/>
          </a:bodyPr>
          <a:lstStyle>
            <a:lvl1pPr algn="r">
              <a:defRPr sz="5400">
                <a:solidFill>
                  <a:schemeClr val="accent1"/>
                </a:solidFill>
              </a:defRPr>
            </a:lvl1pPr>
          </a:lstStyle>
          <a:p>
            <a:pPr>
              <a:defRPr/>
            </a:pPr>
            <a:r>
              <a:rPr lang="en-US"/>
              <a:t>Click to edit Master title style</a:t>
            </a:r>
          </a:p>
        </p:txBody>
      </p:sp>
      <p:sp>
        <p:nvSpPr>
          <p:cNvPr id="765248489" name="Subtitle 2"/>
          <p:cNvSpPr>
            <a:spLocks noGrp="1"/>
          </p:cNvSpPr>
          <p:nvPr>
            <p:ph type="subTitle" idx="1"/>
          </p:nvPr>
        </p:nvSpPr>
        <p:spPr bwMode="auto">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1202146213"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766014209" name="Footer Placeholder 4"/>
          <p:cNvSpPr>
            <a:spLocks noGrp="1"/>
          </p:cNvSpPr>
          <p:nvPr>
            <p:ph type="ftr" sz="quarter" idx="11"/>
          </p:nvPr>
        </p:nvSpPr>
        <p:spPr bwMode="auto"/>
        <p:txBody>
          <a:bodyPr/>
          <a:lstStyle/>
          <a:p>
            <a:pPr>
              <a:defRPr/>
            </a:pPr>
            <a:endParaRPr lang="en-IN"/>
          </a:p>
        </p:txBody>
      </p:sp>
      <p:sp>
        <p:nvSpPr>
          <p:cNvPr id="354520080"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982934269" name="Title 1"/>
          <p:cNvSpPr>
            <a:spLocks noGrp="1"/>
          </p:cNvSpPr>
          <p:nvPr>
            <p:ph type="title"/>
          </p:nvPr>
        </p:nvSpPr>
        <p:spPr bwMode="auto"/>
        <p:txBody>
          <a:bodyPr>
            <a:normAutofit/>
          </a:bodyPr>
          <a:lstStyle>
            <a:lvl1pPr>
              <a:defRPr sz="3600"/>
            </a:lvl1pPr>
          </a:lstStyle>
          <a:p>
            <a:pPr>
              <a:defRPr/>
            </a:pPr>
            <a:r>
              <a:rPr lang="en-US"/>
              <a:t>Click to edit Master title style</a:t>
            </a:r>
          </a:p>
        </p:txBody>
      </p:sp>
      <p:sp>
        <p:nvSpPr>
          <p:cNvPr id="795002292" name="Content Placeholder 2"/>
          <p:cNvSpPr>
            <a:spLocks noGrp="1"/>
          </p:cNvSpPr>
          <p:nvPr>
            <p:ph idx="1"/>
          </p:nvPr>
        </p:nvSpPr>
        <p:spPr bwMode="auto"/>
        <p:txBody>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964210108"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325308547" name="Footer Placeholder 4"/>
          <p:cNvSpPr>
            <a:spLocks noGrp="1"/>
          </p:cNvSpPr>
          <p:nvPr>
            <p:ph type="ftr" sz="quarter" idx="11"/>
          </p:nvPr>
        </p:nvSpPr>
        <p:spPr bwMode="auto"/>
        <p:txBody>
          <a:bodyPr/>
          <a:lstStyle/>
          <a:p>
            <a:pPr>
              <a:defRPr/>
            </a:pPr>
            <a:endParaRPr lang="en-IN"/>
          </a:p>
        </p:txBody>
      </p:sp>
      <p:sp>
        <p:nvSpPr>
          <p:cNvPr id="2075514812"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700479308" name="Title 1"/>
          <p:cNvSpPr>
            <a:spLocks noGrp="1"/>
          </p:cNvSpPr>
          <p:nvPr>
            <p:ph type="title"/>
          </p:nvPr>
        </p:nvSpPr>
        <p:spPr bwMode="auto">
          <a:xfrm>
            <a:off x="677335" y="2700867"/>
            <a:ext cx="8596668" cy="1826581"/>
          </a:xfrm>
        </p:spPr>
        <p:txBody>
          <a:bodyPr anchor="b"/>
          <a:lstStyle>
            <a:lvl1pPr algn="l">
              <a:defRPr sz="4000" b="0" cap="none"/>
            </a:lvl1pPr>
          </a:lstStyle>
          <a:p>
            <a:pPr>
              <a:defRPr/>
            </a:pPr>
            <a:r>
              <a:rPr lang="en-US"/>
              <a:t>Click to edit Master title style</a:t>
            </a:r>
          </a:p>
        </p:txBody>
      </p:sp>
      <p:sp>
        <p:nvSpPr>
          <p:cNvPr id="1557213166" name="Text Placeholder 2"/>
          <p:cNvSpPr>
            <a:spLocks noGrp="1"/>
          </p:cNvSpPr>
          <p:nvPr>
            <p:ph type="body" idx="1"/>
          </p:nvPr>
        </p:nvSpPr>
        <p:spPr bwMode="auto">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p>
        </p:txBody>
      </p:sp>
      <p:sp>
        <p:nvSpPr>
          <p:cNvPr id="569359577"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835821172" name="Footer Placeholder 4"/>
          <p:cNvSpPr>
            <a:spLocks noGrp="1"/>
          </p:cNvSpPr>
          <p:nvPr>
            <p:ph type="ftr" sz="quarter" idx="11"/>
          </p:nvPr>
        </p:nvSpPr>
        <p:spPr bwMode="auto"/>
        <p:txBody>
          <a:bodyPr/>
          <a:lstStyle/>
          <a:p>
            <a:pPr>
              <a:defRPr/>
            </a:pPr>
            <a:endParaRPr lang="en-IN"/>
          </a:p>
        </p:txBody>
      </p:sp>
      <p:sp>
        <p:nvSpPr>
          <p:cNvPr id="1379109918"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780169081" name="Title 1"/>
          <p:cNvSpPr>
            <a:spLocks noGrp="1"/>
          </p:cNvSpPr>
          <p:nvPr>
            <p:ph type="title"/>
          </p:nvPr>
        </p:nvSpPr>
        <p:spPr bwMode="auto"/>
        <p:txBody>
          <a:bodyPr/>
          <a:lstStyle/>
          <a:p>
            <a:pPr>
              <a:defRPr/>
            </a:pPr>
            <a:r>
              <a:rPr lang="en-US"/>
              <a:t>Click to edit Master title style</a:t>
            </a:r>
          </a:p>
        </p:txBody>
      </p:sp>
      <p:sp>
        <p:nvSpPr>
          <p:cNvPr id="717713052" name="Content Placeholder 2"/>
          <p:cNvSpPr>
            <a:spLocks noGrp="1"/>
          </p:cNvSpPr>
          <p:nvPr>
            <p:ph sz="half" idx="1"/>
          </p:nvPr>
        </p:nvSpPr>
        <p:spPr bwMode="auto">
          <a:xfrm>
            <a:off x="677334" y="2160589"/>
            <a:ext cx="4184035" cy="3880772"/>
          </a:xfrm>
        </p:spPr>
        <p:txBody>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93407766" name="Content Placeholder 3"/>
          <p:cNvSpPr>
            <a:spLocks noGrp="1"/>
          </p:cNvSpPr>
          <p:nvPr>
            <p:ph sz="half" idx="2"/>
          </p:nvPr>
        </p:nvSpPr>
        <p:spPr bwMode="auto">
          <a:xfrm>
            <a:off x="5089970" y="2160589"/>
            <a:ext cx="4184034" cy="3880773"/>
          </a:xfrm>
        </p:spPr>
        <p:txBody>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770617104" name="Date Placeholder 4"/>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873343764" name="Footer Placeholder 5"/>
          <p:cNvSpPr>
            <a:spLocks noGrp="1"/>
          </p:cNvSpPr>
          <p:nvPr>
            <p:ph type="ftr" sz="quarter" idx="11"/>
          </p:nvPr>
        </p:nvSpPr>
        <p:spPr bwMode="auto"/>
        <p:txBody>
          <a:bodyPr/>
          <a:lstStyle/>
          <a:p>
            <a:pPr>
              <a:defRPr/>
            </a:pPr>
            <a:endParaRPr lang="en-IN"/>
          </a:p>
        </p:txBody>
      </p:sp>
      <p:sp>
        <p:nvSpPr>
          <p:cNvPr id="102485819" name="Slide Number Placeholder 6"/>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755989372" name="Title 1"/>
          <p:cNvSpPr>
            <a:spLocks noGrp="1"/>
          </p:cNvSpPr>
          <p:nvPr>
            <p:ph type="title"/>
          </p:nvPr>
        </p:nvSpPr>
        <p:spPr bwMode="auto"/>
        <p:txBody>
          <a:bodyPr/>
          <a:lstStyle>
            <a:lvl1pPr>
              <a:defRPr/>
            </a:lvl1pPr>
          </a:lstStyle>
          <a:p>
            <a:pPr>
              <a:defRPr/>
            </a:pPr>
            <a:r>
              <a:rPr lang="en-US"/>
              <a:t>Click to edit Master title style</a:t>
            </a:r>
          </a:p>
        </p:txBody>
      </p:sp>
      <p:sp>
        <p:nvSpPr>
          <p:cNvPr id="764607868" name="Text Placeholder 2"/>
          <p:cNvSpPr>
            <a:spLocks noGrp="1"/>
          </p:cNvSpPr>
          <p:nvPr>
            <p:ph type="body" idx="1"/>
          </p:nvPr>
        </p:nvSpPr>
        <p:spPr bwMode="auto">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p>
        </p:txBody>
      </p:sp>
      <p:sp>
        <p:nvSpPr>
          <p:cNvPr id="973758853" name="Content Placeholder 3"/>
          <p:cNvSpPr>
            <a:spLocks noGrp="1"/>
          </p:cNvSpPr>
          <p:nvPr>
            <p:ph sz="half" idx="2"/>
          </p:nvPr>
        </p:nvSpPr>
        <p:spPr bwMode="auto">
          <a:xfrm>
            <a:off x="675745" y="2737245"/>
            <a:ext cx="4185623" cy="3304117"/>
          </a:xfrm>
        </p:spPr>
        <p:txBody>
          <a:bodyPr>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878289693" name="Text Placeholder 4"/>
          <p:cNvSpPr>
            <a:spLocks noGrp="1"/>
          </p:cNvSpPr>
          <p:nvPr>
            <p:ph type="body" sz="quarter" idx="3"/>
          </p:nvPr>
        </p:nvSpPr>
        <p:spPr bwMode="auto">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p>
        </p:txBody>
      </p:sp>
      <p:sp>
        <p:nvSpPr>
          <p:cNvPr id="1030414722" name="Content Placeholder 5"/>
          <p:cNvSpPr>
            <a:spLocks noGrp="1"/>
          </p:cNvSpPr>
          <p:nvPr>
            <p:ph sz="quarter" idx="4"/>
          </p:nvPr>
        </p:nvSpPr>
        <p:spPr bwMode="auto">
          <a:xfrm>
            <a:off x="5088384" y="2737245"/>
            <a:ext cx="4185617" cy="3304117"/>
          </a:xfrm>
        </p:spPr>
        <p:txBody>
          <a:bodyPr>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24403054" name="Date Placeholder 6"/>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225112128" name="Footer Placeholder 7"/>
          <p:cNvSpPr>
            <a:spLocks noGrp="1"/>
          </p:cNvSpPr>
          <p:nvPr>
            <p:ph type="ftr" sz="quarter" idx="11"/>
          </p:nvPr>
        </p:nvSpPr>
        <p:spPr bwMode="auto"/>
        <p:txBody>
          <a:bodyPr/>
          <a:lstStyle/>
          <a:p>
            <a:pPr>
              <a:defRPr/>
            </a:pPr>
            <a:endParaRPr lang="en-IN"/>
          </a:p>
        </p:txBody>
      </p:sp>
      <p:sp>
        <p:nvSpPr>
          <p:cNvPr id="1632674139" name="Slide Number Placeholder 8"/>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490446346" name="Title 1"/>
          <p:cNvSpPr>
            <a:spLocks noGrp="1"/>
          </p:cNvSpPr>
          <p:nvPr>
            <p:ph type="title"/>
          </p:nvPr>
        </p:nvSpPr>
        <p:spPr bwMode="auto">
          <a:xfrm>
            <a:off x="677334" y="609600"/>
            <a:ext cx="8596668" cy="1320800"/>
          </a:xfrm>
        </p:spPr>
        <p:txBody>
          <a:bodyPr/>
          <a:lstStyle/>
          <a:p>
            <a:pPr>
              <a:defRPr/>
            </a:pPr>
            <a:r>
              <a:rPr lang="en-US"/>
              <a:t>Click to edit Master title style</a:t>
            </a:r>
          </a:p>
        </p:txBody>
      </p:sp>
      <p:sp>
        <p:nvSpPr>
          <p:cNvPr id="855689387" name="Date Placeholder 2"/>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461814894" name="Footer Placeholder 3"/>
          <p:cNvSpPr>
            <a:spLocks noGrp="1"/>
          </p:cNvSpPr>
          <p:nvPr>
            <p:ph type="ftr" sz="quarter" idx="11"/>
          </p:nvPr>
        </p:nvSpPr>
        <p:spPr bwMode="auto"/>
        <p:txBody>
          <a:bodyPr/>
          <a:lstStyle/>
          <a:p>
            <a:pPr>
              <a:defRPr/>
            </a:pPr>
            <a:endParaRPr lang="en-IN"/>
          </a:p>
        </p:txBody>
      </p:sp>
      <p:sp>
        <p:nvSpPr>
          <p:cNvPr id="852283872" name="Slide Number Placeholder 4"/>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764651093" name="Date Placeholder 1"/>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487391192" name="Footer Placeholder 2"/>
          <p:cNvSpPr>
            <a:spLocks noGrp="1"/>
          </p:cNvSpPr>
          <p:nvPr>
            <p:ph type="ftr" sz="quarter" idx="11"/>
          </p:nvPr>
        </p:nvSpPr>
        <p:spPr bwMode="auto"/>
        <p:txBody>
          <a:bodyPr/>
          <a:lstStyle/>
          <a:p>
            <a:pPr>
              <a:defRPr/>
            </a:pPr>
            <a:endParaRPr lang="en-IN"/>
          </a:p>
        </p:txBody>
      </p:sp>
      <p:sp>
        <p:nvSpPr>
          <p:cNvPr id="587209630" name="Slide Number Placeholder 3"/>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218914638" name="Title 1"/>
          <p:cNvSpPr>
            <a:spLocks noGrp="1"/>
          </p:cNvSpPr>
          <p:nvPr>
            <p:ph type="title"/>
          </p:nvPr>
        </p:nvSpPr>
        <p:spPr bwMode="auto">
          <a:xfrm>
            <a:off x="677334" y="1498604"/>
            <a:ext cx="3854528" cy="1278466"/>
          </a:xfrm>
        </p:spPr>
        <p:txBody>
          <a:bodyPr anchor="b">
            <a:normAutofit/>
          </a:bodyPr>
          <a:lstStyle>
            <a:lvl1pPr>
              <a:defRPr sz="2000"/>
            </a:lvl1pPr>
          </a:lstStyle>
          <a:p>
            <a:pPr>
              <a:defRPr/>
            </a:pPr>
            <a:r>
              <a:rPr lang="en-US"/>
              <a:t>Click to edit Master title style</a:t>
            </a:r>
          </a:p>
        </p:txBody>
      </p:sp>
      <p:sp>
        <p:nvSpPr>
          <p:cNvPr id="1335342520" name="Content Placeholder 2"/>
          <p:cNvSpPr>
            <a:spLocks noGrp="1"/>
          </p:cNvSpPr>
          <p:nvPr>
            <p:ph idx="1"/>
          </p:nvPr>
        </p:nvSpPr>
        <p:spPr bwMode="auto">
          <a:xfrm>
            <a:off x="4760461" y="514924"/>
            <a:ext cx="4513541" cy="5526437"/>
          </a:xfrm>
        </p:spPr>
        <p:txBody>
          <a:bodyPr>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334429602" name="Text Placeholder 3"/>
          <p:cNvSpPr>
            <a:spLocks noGrp="1"/>
          </p:cNvSpPr>
          <p:nvPr>
            <p:ph type="body" sz="half" idx="2"/>
          </p:nvPr>
        </p:nvSpPr>
        <p:spPr bwMode="auto">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defRPr/>
            </a:pPr>
            <a:r>
              <a:rPr lang="en-US"/>
              <a:t>Click to edit Master text styles</a:t>
            </a:r>
          </a:p>
        </p:txBody>
      </p:sp>
      <p:sp>
        <p:nvSpPr>
          <p:cNvPr id="1765530448" name="Date Placeholder 4"/>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463512874" name="Footer Placeholder 5"/>
          <p:cNvSpPr>
            <a:spLocks noGrp="1"/>
          </p:cNvSpPr>
          <p:nvPr>
            <p:ph type="ftr" sz="quarter" idx="11"/>
          </p:nvPr>
        </p:nvSpPr>
        <p:spPr bwMode="auto"/>
        <p:txBody>
          <a:bodyPr/>
          <a:lstStyle/>
          <a:p>
            <a:pPr>
              <a:defRPr/>
            </a:pPr>
            <a:endParaRPr lang="en-IN"/>
          </a:p>
        </p:txBody>
      </p:sp>
      <p:sp>
        <p:nvSpPr>
          <p:cNvPr id="446527535" name="Slide Number Placeholder 6"/>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341061174" name="Title 1"/>
          <p:cNvSpPr>
            <a:spLocks noGrp="1"/>
          </p:cNvSpPr>
          <p:nvPr>
            <p:ph type="title"/>
          </p:nvPr>
        </p:nvSpPr>
        <p:spPr bwMode="auto">
          <a:xfrm>
            <a:off x="677334" y="4800600"/>
            <a:ext cx="8596667" cy="566738"/>
          </a:xfrm>
        </p:spPr>
        <p:txBody>
          <a:bodyPr anchor="b">
            <a:normAutofit/>
          </a:bodyPr>
          <a:lstStyle>
            <a:lvl1pPr algn="l">
              <a:defRPr sz="2400" b="0"/>
            </a:lvl1pPr>
          </a:lstStyle>
          <a:p>
            <a:pPr>
              <a:defRPr/>
            </a:pPr>
            <a:r>
              <a:rPr lang="en-US"/>
              <a:t>Click to edit Master title style</a:t>
            </a:r>
          </a:p>
        </p:txBody>
      </p:sp>
      <p:sp>
        <p:nvSpPr>
          <p:cNvPr id="416987234" name="Picture Placeholder 2"/>
          <p:cNvSpPr>
            <a:spLocks noGrp="1" noChangeAspect="1"/>
          </p:cNvSpPr>
          <p:nvPr>
            <p:ph type="pic" idx="1"/>
          </p:nvPr>
        </p:nvSpPr>
        <p:spPr bwMode="auto">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a:defRPr/>
            </a:pPr>
            <a:r>
              <a:rPr lang="en-US"/>
              <a:t>Click icon to add picture</a:t>
            </a:r>
          </a:p>
        </p:txBody>
      </p:sp>
      <p:sp>
        <p:nvSpPr>
          <p:cNvPr id="718540426" name="Text Placeholder 3"/>
          <p:cNvSpPr>
            <a:spLocks noGrp="1"/>
          </p:cNvSpPr>
          <p:nvPr>
            <p:ph type="body" sz="half" idx="2"/>
          </p:nvPr>
        </p:nvSpPr>
        <p:spPr bwMode="auto">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p>
        </p:txBody>
      </p:sp>
      <p:sp>
        <p:nvSpPr>
          <p:cNvPr id="1834732082" name="Date Placeholder 4"/>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908054429" name="Footer Placeholder 5"/>
          <p:cNvSpPr>
            <a:spLocks noGrp="1"/>
          </p:cNvSpPr>
          <p:nvPr>
            <p:ph type="ftr" sz="quarter" idx="11"/>
          </p:nvPr>
        </p:nvSpPr>
        <p:spPr bwMode="auto"/>
        <p:txBody>
          <a:bodyPr/>
          <a:lstStyle/>
          <a:p>
            <a:pPr>
              <a:defRPr/>
            </a:pPr>
            <a:endParaRPr lang="en-IN"/>
          </a:p>
        </p:txBody>
      </p:sp>
      <p:sp>
        <p:nvSpPr>
          <p:cNvPr id="1231261558" name="Slide Number Placeholder 6"/>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Title and Caption">
    <p:spTree>
      <p:nvGrpSpPr>
        <p:cNvPr id="1" name=""/>
        <p:cNvGrpSpPr/>
        <p:nvPr/>
      </p:nvGrpSpPr>
      <p:grpSpPr bwMode="auto">
        <a:xfrm>
          <a:off x="0" y="0"/>
          <a:ext cx="0" cy="0"/>
          <a:chOff x="0" y="0"/>
          <a:chExt cx="0" cy="0"/>
        </a:xfrm>
      </p:grpSpPr>
      <p:sp>
        <p:nvSpPr>
          <p:cNvPr id="421240102" name="Title 1"/>
          <p:cNvSpPr>
            <a:spLocks noGrp="1"/>
          </p:cNvSpPr>
          <p:nvPr>
            <p:ph type="title"/>
          </p:nvPr>
        </p:nvSpPr>
        <p:spPr bwMode="auto">
          <a:xfrm>
            <a:off x="677335" y="609600"/>
            <a:ext cx="8596668" cy="3403600"/>
          </a:xfrm>
        </p:spPr>
        <p:txBody>
          <a:bodyPr anchor="ctr">
            <a:normAutofit/>
          </a:bodyPr>
          <a:lstStyle>
            <a:lvl1pPr algn="l">
              <a:defRPr sz="4400" b="0" cap="none"/>
            </a:lvl1pPr>
          </a:lstStyle>
          <a:p>
            <a:pPr>
              <a:defRPr/>
            </a:pPr>
            <a:r>
              <a:rPr lang="en-US"/>
              <a:t>Click to edit Master title style</a:t>
            </a:r>
          </a:p>
        </p:txBody>
      </p:sp>
      <p:sp>
        <p:nvSpPr>
          <p:cNvPr id="636891745" name="Text Placeholder 2"/>
          <p:cNvSpPr>
            <a:spLocks noGrp="1"/>
          </p:cNvSpPr>
          <p:nvPr>
            <p:ph type="body" idx="1"/>
          </p:nvPr>
        </p:nvSpPr>
        <p:spPr bwMode="auto">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p>
        </p:txBody>
      </p:sp>
      <p:sp>
        <p:nvSpPr>
          <p:cNvPr id="131370529"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082423259" name="Footer Placeholder 4"/>
          <p:cNvSpPr>
            <a:spLocks noGrp="1"/>
          </p:cNvSpPr>
          <p:nvPr>
            <p:ph type="ftr" sz="quarter" idx="11"/>
          </p:nvPr>
        </p:nvSpPr>
        <p:spPr bwMode="auto"/>
        <p:txBody>
          <a:bodyPr/>
          <a:lstStyle/>
          <a:p>
            <a:pPr>
              <a:defRPr/>
            </a:pPr>
            <a:endParaRPr lang="en-IN"/>
          </a:p>
        </p:txBody>
      </p:sp>
      <p:sp>
        <p:nvSpPr>
          <p:cNvPr id="704239206"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Quote with Caption">
    <p:spTree>
      <p:nvGrpSpPr>
        <p:cNvPr id="1" name=""/>
        <p:cNvGrpSpPr/>
        <p:nvPr/>
      </p:nvGrpSpPr>
      <p:grpSpPr bwMode="auto">
        <a:xfrm>
          <a:off x="0" y="0"/>
          <a:ext cx="0" cy="0"/>
          <a:chOff x="0" y="0"/>
          <a:chExt cx="0" cy="0"/>
        </a:xfrm>
      </p:grpSpPr>
      <p:sp>
        <p:nvSpPr>
          <p:cNvPr id="1389256223" name="Title 1"/>
          <p:cNvSpPr>
            <a:spLocks noGrp="1"/>
          </p:cNvSpPr>
          <p:nvPr>
            <p:ph type="title"/>
          </p:nvPr>
        </p:nvSpPr>
        <p:spPr bwMode="auto">
          <a:xfrm>
            <a:off x="931334" y="609600"/>
            <a:ext cx="8094134" cy="3022600"/>
          </a:xfrm>
        </p:spPr>
        <p:txBody>
          <a:bodyPr anchor="ctr">
            <a:normAutofit/>
          </a:bodyPr>
          <a:lstStyle>
            <a:lvl1pPr algn="l">
              <a:defRPr sz="4400" b="0" cap="none"/>
            </a:lvl1pPr>
          </a:lstStyle>
          <a:p>
            <a:pPr>
              <a:defRPr/>
            </a:pPr>
            <a:r>
              <a:rPr lang="en-US"/>
              <a:t>Click to edit Master title style</a:t>
            </a:r>
          </a:p>
        </p:txBody>
      </p:sp>
      <p:sp>
        <p:nvSpPr>
          <p:cNvPr id="740077033" name="Text Placeholder 9"/>
          <p:cNvSpPr>
            <a:spLocks noGrp="1"/>
          </p:cNvSpPr>
          <p:nvPr>
            <p:ph type="body" sz="quarter" idx="13"/>
          </p:nvPr>
        </p:nvSpPr>
        <p:spPr bwMode="auto">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en-US"/>
              <a:t>Click to edit Master text styles</a:t>
            </a:r>
          </a:p>
        </p:txBody>
      </p:sp>
      <p:sp>
        <p:nvSpPr>
          <p:cNvPr id="598939171" name="Text Placeholder 2"/>
          <p:cNvSpPr>
            <a:spLocks noGrp="1"/>
          </p:cNvSpPr>
          <p:nvPr>
            <p:ph type="body" idx="1"/>
          </p:nvPr>
        </p:nvSpPr>
        <p:spPr bwMode="auto">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p>
        </p:txBody>
      </p:sp>
      <p:sp>
        <p:nvSpPr>
          <p:cNvPr id="509813970"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649838002" name="Footer Placeholder 4"/>
          <p:cNvSpPr>
            <a:spLocks noGrp="1"/>
          </p:cNvSpPr>
          <p:nvPr>
            <p:ph type="ftr" sz="quarter" idx="11"/>
          </p:nvPr>
        </p:nvSpPr>
        <p:spPr bwMode="auto"/>
        <p:txBody>
          <a:bodyPr/>
          <a:lstStyle/>
          <a:p>
            <a:pPr>
              <a:defRPr/>
            </a:pPr>
            <a:endParaRPr lang="en-IN"/>
          </a:p>
        </p:txBody>
      </p:sp>
      <p:sp>
        <p:nvSpPr>
          <p:cNvPr id="208072763"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
        <p:nvSpPr>
          <p:cNvPr id="1155780703" name="TextBox 19"/>
          <p:cNvSpPr txBox="1"/>
          <p:nvPr/>
        </p:nvSpPr>
        <p:spPr bwMode="auto">
          <a:xfrm>
            <a:off x="541870" y="790378"/>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panose="020B0604020202020204"/>
              </a:rPr>
              <a:t>“</a:t>
            </a:r>
          </a:p>
        </p:txBody>
      </p:sp>
      <p:sp>
        <p:nvSpPr>
          <p:cNvPr id="559036500" name="TextBox 21"/>
          <p:cNvSpPr txBox="1"/>
          <p:nvPr/>
        </p:nvSpPr>
        <p:spPr bwMode="auto">
          <a:xfrm>
            <a:off x="8893011" y="288655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panose="020B0604020202020204"/>
              </a:rPr>
              <a:t>”</a:t>
            </a:r>
            <a:endParaRPr lang="en-US">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Name Card">
    <p:spTree>
      <p:nvGrpSpPr>
        <p:cNvPr id="1" name=""/>
        <p:cNvGrpSpPr/>
        <p:nvPr/>
      </p:nvGrpSpPr>
      <p:grpSpPr bwMode="auto">
        <a:xfrm>
          <a:off x="0" y="0"/>
          <a:ext cx="0" cy="0"/>
          <a:chOff x="0" y="0"/>
          <a:chExt cx="0" cy="0"/>
        </a:xfrm>
      </p:grpSpPr>
      <p:sp>
        <p:nvSpPr>
          <p:cNvPr id="939989920" name="Title 1"/>
          <p:cNvSpPr>
            <a:spLocks noGrp="1"/>
          </p:cNvSpPr>
          <p:nvPr>
            <p:ph type="title"/>
          </p:nvPr>
        </p:nvSpPr>
        <p:spPr bwMode="auto">
          <a:xfrm>
            <a:off x="677335" y="1931988"/>
            <a:ext cx="8596668" cy="2595460"/>
          </a:xfrm>
        </p:spPr>
        <p:txBody>
          <a:bodyPr anchor="b">
            <a:normAutofit/>
          </a:bodyPr>
          <a:lstStyle>
            <a:lvl1pPr algn="l">
              <a:defRPr sz="4400" b="0" cap="none"/>
            </a:lvl1pPr>
          </a:lstStyle>
          <a:p>
            <a:pPr>
              <a:defRPr/>
            </a:pPr>
            <a:r>
              <a:rPr lang="en-US"/>
              <a:t>Click to edit Master title style</a:t>
            </a:r>
          </a:p>
        </p:txBody>
      </p:sp>
      <p:sp>
        <p:nvSpPr>
          <p:cNvPr id="1858512643" name="Text Placeholder 2"/>
          <p:cNvSpPr>
            <a:spLocks noGrp="1"/>
          </p:cNvSpPr>
          <p:nvPr>
            <p:ph type="body" idx="1"/>
          </p:nvPr>
        </p:nvSpPr>
        <p:spPr bwMode="auto">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p>
        </p:txBody>
      </p:sp>
      <p:sp>
        <p:nvSpPr>
          <p:cNvPr id="972986177"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139934271" name="Footer Placeholder 4"/>
          <p:cNvSpPr>
            <a:spLocks noGrp="1"/>
          </p:cNvSpPr>
          <p:nvPr>
            <p:ph type="ftr" sz="quarter" idx="11"/>
          </p:nvPr>
        </p:nvSpPr>
        <p:spPr bwMode="auto"/>
        <p:txBody>
          <a:bodyPr/>
          <a:lstStyle/>
          <a:p>
            <a:pPr>
              <a:defRPr/>
            </a:pPr>
            <a:endParaRPr lang="en-IN"/>
          </a:p>
        </p:txBody>
      </p:sp>
      <p:sp>
        <p:nvSpPr>
          <p:cNvPr id="1543626613"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Quote Name Card">
    <p:spTree>
      <p:nvGrpSpPr>
        <p:cNvPr id="1" name=""/>
        <p:cNvGrpSpPr/>
        <p:nvPr/>
      </p:nvGrpSpPr>
      <p:grpSpPr bwMode="auto">
        <a:xfrm>
          <a:off x="0" y="0"/>
          <a:ext cx="0" cy="0"/>
          <a:chOff x="0" y="0"/>
          <a:chExt cx="0" cy="0"/>
        </a:xfrm>
      </p:grpSpPr>
      <p:sp>
        <p:nvSpPr>
          <p:cNvPr id="1403625950" name="Title 1"/>
          <p:cNvSpPr>
            <a:spLocks noGrp="1"/>
          </p:cNvSpPr>
          <p:nvPr>
            <p:ph type="title"/>
          </p:nvPr>
        </p:nvSpPr>
        <p:spPr bwMode="auto">
          <a:xfrm>
            <a:off x="931334" y="609600"/>
            <a:ext cx="8094134" cy="3022600"/>
          </a:xfrm>
        </p:spPr>
        <p:txBody>
          <a:bodyPr anchor="ctr">
            <a:normAutofit/>
          </a:bodyPr>
          <a:lstStyle>
            <a:lvl1pPr algn="l">
              <a:defRPr sz="4400" b="0" cap="none"/>
            </a:lvl1pPr>
          </a:lstStyle>
          <a:p>
            <a:pPr>
              <a:defRPr/>
            </a:pPr>
            <a:r>
              <a:rPr lang="en-US"/>
              <a:t>Click to edit Master title style</a:t>
            </a:r>
          </a:p>
        </p:txBody>
      </p:sp>
      <p:sp>
        <p:nvSpPr>
          <p:cNvPr id="699019142" name="Text Placeholder 9"/>
          <p:cNvSpPr>
            <a:spLocks noGrp="1"/>
          </p:cNvSpPr>
          <p:nvPr>
            <p:ph type="body" sz="quarter" idx="13"/>
          </p:nvPr>
        </p:nvSpPr>
        <p:spPr bwMode="auto">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en-US"/>
              <a:t>Click to edit Master text styles</a:t>
            </a:r>
          </a:p>
        </p:txBody>
      </p:sp>
      <p:sp>
        <p:nvSpPr>
          <p:cNvPr id="1733766725" name="Text Placeholder 2"/>
          <p:cNvSpPr>
            <a:spLocks noGrp="1"/>
          </p:cNvSpPr>
          <p:nvPr>
            <p:ph type="body" idx="1"/>
          </p:nvPr>
        </p:nvSpPr>
        <p:spPr bwMode="auto">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p>
        </p:txBody>
      </p:sp>
      <p:sp>
        <p:nvSpPr>
          <p:cNvPr id="951122378"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712881785" name="Footer Placeholder 4"/>
          <p:cNvSpPr>
            <a:spLocks noGrp="1"/>
          </p:cNvSpPr>
          <p:nvPr>
            <p:ph type="ftr" sz="quarter" idx="11"/>
          </p:nvPr>
        </p:nvSpPr>
        <p:spPr bwMode="auto"/>
        <p:txBody>
          <a:bodyPr/>
          <a:lstStyle/>
          <a:p>
            <a:pPr>
              <a:defRPr/>
            </a:pPr>
            <a:endParaRPr lang="en-IN"/>
          </a:p>
        </p:txBody>
      </p:sp>
      <p:sp>
        <p:nvSpPr>
          <p:cNvPr id="1989537657"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
        <p:nvSpPr>
          <p:cNvPr id="352196390" name="TextBox 23"/>
          <p:cNvSpPr txBox="1"/>
          <p:nvPr/>
        </p:nvSpPr>
        <p:spPr bwMode="auto">
          <a:xfrm>
            <a:off x="541870" y="790378"/>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panose="020B0604020202020204"/>
              </a:rPr>
              <a:t>“</a:t>
            </a:r>
          </a:p>
        </p:txBody>
      </p:sp>
      <p:sp>
        <p:nvSpPr>
          <p:cNvPr id="679024639" name="TextBox 24"/>
          <p:cNvSpPr txBox="1"/>
          <p:nvPr/>
        </p:nvSpPr>
        <p:spPr bwMode="auto">
          <a:xfrm>
            <a:off x="8893011" y="288655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True or False">
    <p:spTree>
      <p:nvGrpSpPr>
        <p:cNvPr id="1" name=""/>
        <p:cNvGrpSpPr/>
        <p:nvPr/>
      </p:nvGrpSpPr>
      <p:grpSpPr bwMode="auto">
        <a:xfrm>
          <a:off x="0" y="0"/>
          <a:ext cx="0" cy="0"/>
          <a:chOff x="0" y="0"/>
          <a:chExt cx="0" cy="0"/>
        </a:xfrm>
      </p:grpSpPr>
      <p:sp>
        <p:nvSpPr>
          <p:cNvPr id="995899544" name="Title 1"/>
          <p:cNvSpPr>
            <a:spLocks noGrp="1"/>
          </p:cNvSpPr>
          <p:nvPr>
            <p:ph type="title"/>
          </p:nvPr>
        </p:nvSpPr>
        <p:spPr bwMode="auto">
          <a:xfrm>
            <a:off x="685799" y="609600"/>
            <a:ext cx="8588203" cy="3022600"/>
          </a:xfrm>
        </p:spPr>
        <p:txBody>
          <a:bodyPr anchor="ctr">
            <a:normAutofit/>
          </a:bodyPr>
          <a:lstStyle>
            <a:lvl1pPr algn="l">
              <a:defRPr sz="4400" b="0" cap="none"/>
            </a:lvl1pPr>
          </a:lstStyle>
          <a:p>
            <a:pPr>
              <a:defRPr/>
            </a:pPr>
            <a:r>
              <a:rPr lang="en-US"/>
              <a:t>Click to edit Master title style</a:t>
            </a:r>
          </a:p>
        </p:txBody>
      </p:sp>
      <p:sp>
        <p:nvSpPr>
          <p:cNvPr id="304348826" name="Text Placeholder 9"/>
          <p:cNvSpPr>
            <a:spLocks noGrp="1"/>
          </p:cNvSpPr>
          <p:nvPr>
            <p:ph type="body" sz="quarter" idx="13"/>
          </p:nvPr>
        </p:nvSpPr>
        <p:spPr bwMode="auto">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en-US"/>
              <a:t>Click to edit Master text styles</a:t>
            </a:r>
          </a:p>
        </p:txBody>
      </p:sp>
      <p:sp>
        <p:nvSpPr>
          <p:cNvPr id="1772187032" name="Text Placeholder 2"/>
          <p:cNvSpPr>
            <a:spLocks noGrp="1"/>
          </p:cNvSpPr>
          <p:nvPr>
            <p:ph type="body" idx="1"/>
          </p:nvPr>
        </p:nvSpPr>
        <p:spPr bwMode="auto">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p>
        </p:txBody>
      </p:sp>
      <p:sp>
        <p:nvSpPr>
          <p:cNvPr id="1848818836"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25620641" name="Footer Placeholder 4"/>
          <p:cNvSpPr>
            <a:spLocks noGrp="1"/>
          </p:cNvSpPr>
          <p:nvPr>
            <p:ph type="ftr" sz="quarter" idx="11"/>
          </p:nvPr>
        </p:nvSpPr>
        <p:spPr bwMode="auto"/>
        <p:txBody>
          <a:bodyPr/>
          <a:lstStyle/>
          <a:p>
            <a:pPr>
              <a:defRPr/>
            </a:pPr>
            <a:endParaRPr lang="en-IN"/>
          </a:p>
        </p:txBody>
      </p:sp>
      <p:sp>
        <p:nvSpPr>
          <p:cNvPr id="1096221150"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883268487" name="Title 1"/>
          <p:cNvSpPr>
            <a:spLocks noGrp="1"/>
          </p:cNvSpPr>
          <p:nvPr>
            <p:ph type="title"/>
          </p:nvPr>
        </p:nvSpPr>
        <p:spPr bwMode="auto"/>
        <p:txBody>
          <a:bodyPr/>
          <a:lstStyle/>
          <a:p>
            <a:pPr>
              <a:defRPr/>
            </a:pPr>
            <a:r>
              <a:rPr lang="en-US"/>
              <a:t>Click to edit Master title style</a:t>
            </a:r>
          </a:p>
        </p:txBody>
      </p:sp>
      <p:sp>
        <p:nvSpPr>
          <p:cNvPr id="2119155134" name="Vertical Text Placeholder 2"/>
          <p:cNvSpPr>
            <a:spLocks noGrp="1"/>
          </p:cNvSpPr>
          <p:nvPr>
            <p:ph type="body" orient="vert" idx="1"/>
          </p:nvPr>
        </p:nvSpPr>
        <p:spPr bwMode="auto"/>
        <p:txBody>
          <a:bodyPr vert="eaVert"/>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301654410"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1247990889" name="Footer Placeholder 4"/>
          <p:cNvSpPr>
            <a:spLocks noGrp="1"/>
          </p:cNvSpPr>
          <p:nvPr>
            <p:ph type="ftr" sz="quarter" idx="11"/>
          </p:nvPr>
        </p:nvSpPr>
        <p:spPr bwMode="auto"/>
        <p:txBody>
          <a:bodyPr/>
          <a:lstStyle/>
          <a:p>
            <a:pPr>
              <a:defRPr/>
            </a:pPr>
            <a:endParaRPr lang="en-IN"/>
          </a:p>
        </p:txBody>
      </p:sp>
      <p:sp>
        <p:nvSpPr>
          <p:cNvPr id="1071317533"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317411726" name="Vertical Title 1"/>
          <p:cNvSpPr>
            <a:spLocks noGrp="1"/>
          </p:cNvSpPr>
          <p:nvPr>
            <p:ph type="title" orient="vert"/>
          </p:nvPr>
        </p:nvSpPr>
        <p:spPr bwMode="auto">
          <a:xfrm>
            <a:off x="7967673" y="609599"/>
            <a:ext cx="1304743" cy="5251451"/>
          </a:xfrm>
        </p:spPr>
        <p:txBody>
          <a:bodyPr vert="eaVert" anchor="ctr"/>
          <a:lstStyle/>
          <a:p>
            <a:pPr>
              <a:defRPr/>
            </a:pPr>
            <a:r>
              <a:rPr lang="en-US"/>
              <a:t>Click to edit Master title style</a:t>
            </a:r>
          </a:p>
        </p:txBody>
      </p:sp>
      <p:sp>
        <p:nvSpPr>
          <p:cNvPr id="1482716173" name="Vertical Text Placeholder 2"/>
          <p:cNvSpPr>
            <a:spLocks noGrp="1"/>
          </p:cNvSpPr>
          <p:nvPr>
            <p:ph type="body" orient="vert" idx="1"/>
          </p:nvPr>
        </p:nvSpPr>
        <p:spPr bwMode="auto">
          <a:xfrm>
            <a:off x="677335" y="609600"/>
            <a:ext cx="7060150" cy="5251450"/>
          </a:xfrm>
        </p:spPr>
        <p:txBody>
          <a:bodyPr vert="eaVert"/>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564941603" name="Date Placeholder 3"/>
          <p:cNvSpPr>
            <a:spLocks noGrp="1"/>
          </p:cNvSpPr>
          <p:nvPr>
            <p:ph type="dt" sz="half" idx="10"/>
          </p:nvPr>
        </p:nvSpPr>
        <p:spPr bwMode="auto"/>
        <p:txBody>
          <a:bodyPr/>
          <a:lstStyle/>
          <a:p>
            <a:pPr>
              <a:defRPr/>
            </a:pPr>
            <a:fld id="{160D2629-EB7F-476C-917C-1A2712D5FEF1}" type="datetimeFigureOut">
              <a:rPr lang="en-IN"/>
              <a:t>17-10-2025</a:t>
            </a:fld>
            <a:endParaRPr lang="en-IN"/>
          </a:p>
        </p:txBody>
      </p:sp>
      <p:sp>
        <p:nvSpPr>
          <p:cNvPr id="769165710" name="Footer Placeholder 4"/>
          <p:cNvSpPr>
            <a:spLocks noGrp="1"/>
          </p:cNvSpPr>
          <p:nvPr>
            <p:ph type="ftr" sz="quarter" idx="11"/>
          </p:nvPr>
        </p:nvSpPr>
        <p:spPr bwMode="auto"/>
        <p:txBody>
          <a:bodyPr/>
          <a:lstStyle/>
          <a:p>
            <a:pPr>
              <a:defRPr/>
            </a:pPr>
            <a:endParaRPr lang="en-IN"/>
          </a:p>
        </p:txBody>
      </p:sp>
      <p:sp>
        <p:nvSpPr>
          <p:cNvPr id="332478472" name="Slide Number Placeholder 5"/>
          <p:cNvSpPr>
            <a:spLocks noGrp="1"/>
          </p:cNvSpPr>
          <p:nvPr>
            <p:ph type="sldNum" sz="quarter" idx="12"/>
          </p:nvPr>
        </p:nvSpPr>
        <p:spPr bwMode="auto"/>
        <p:txBody>
          <a:bodyPr/>
          <a:lstStyle/>
          <a:p>
            <a:pPr>
              <a:defRPr/>
            </a:pPr>
            <a:fld id="{DEAFEE2E-62F2-4DCD-84AD-F2DF8723E290}"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grpSp>
        <p:nvGrpSpPr>
          <p:cNvPr id="428061509" name="Group 6"/>
          <p:cNvGrpSpPr/>
          <p:nvPr/>
        </p:nvGrpSpPr>
        <p:grpSpPr bwMode="auto">
          <a:xfrm>
            <a:off x="0" y="-8467"/>
            <a:ext cx="12192000" cy="6866466"/>
            <a:chOff x="0" y="-8467"/>
            <a:chExt cx="12192000" cy="6866466"/>
          </a:xfrm>
        </p:grpSpPr>
        <p:cxnSp>
          <p:nvCxnSpPr>
            <p:cNvPr id="20" name="Straight Connector 19"/>
            <p:cNvCxnSpPr/>
            <p:nvPr/>
          </p:nvCxnSpPr>
          <p:spPr bwMode="auto">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bwMode="auto">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bwMode="auto">
            <a:xfrm>
              <a:off x="9181476" y="-8467"/>
              <a:ext cx="3007349" cy="6866466"/>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bwMode="auto">
            <a:xfrm>
              <a:off x="9603442" y="-8467"/>
              <a:ext cx="2588558" cy="6866466"/>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bwMode="auto">
            <a:xfrm>
              <a:off x="8932333" y="3048000"/>
              <a:ext cx="3259666"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bwMode="auto">
            <a:xfrm>
              <a:off x="9334500" y="-8467"/>
              <a:ext cx="2854326" cy="6866466"/>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bwMode="auto">
            <a:xfrm>
              <a:off x="10898730" y="-8467"/>
              <a:ext cx="1290094" cy="6866466"/>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bwMode="auto">
            <a:xfrm>
              <a:off x="10938999" y="-8467"/>
              <a:ext cx="1249825" cy="6866466"/>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bwMode="auto">
            <a:xfrm>
              <a:off x="10371666" y="3589867"/>
              <a:ext cx="1817158"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bwMode="auto">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544987888" name="Title Placeholder 1"/>
          <p:cNvSpPr>
            <a:spLocks noGrp="1"/>
          </p:cNvSpPr>
          <p:nvPr>
            <p:ph type="title"/>
          </p:nvPr>
        </p:nvSpPr>
        <p:spPr bwMode="auto">
          <a:xfrm>
            <a:off x="677334" y="609600"/>
            <a:ext cx="8596668" cy="1320800"/>
          </a:xfrm>
          <a:prstGeom prst="rect">
            <a:avLst/>
          </a:prstGeom>
        </p:spPr>
        <p:txBody>
          <a:bodyPr vert="horz" lIns="91440" tIns="45720" rIns="91440" bIns="45720" rtlCol="0" anchor="t">
            <a:normAutofit/>
          </a:bodyPr>
          <a:lstStyle/>
          <a:p>
            <a:pPr>
              <a:defRPr/>
            </a:pPr>
            <a:r>
              <a:rPr lang="en-US"/>
              <a:t>Click to edit Master title style</a:t>
            </a:r>
          </a:p>
        </p:txBody>
      </p:sp>
      <p:sp>
        <p:nvSpPr>
          <p:cNvPr id="2003508690" name="Text Placeholder 2"/>
          <p:cNvSpPr>
            <a:spLocks noGrp="1"/>
          </p:cNvSpPr>
          <p:nvPr>
            <p:ph type="body" idx="1"/>
          </p:nvPr>
        </p:nvSpPr>
        <p:spPr bwMode="auto">
          <a:xfrm>
            <a:off x="677334" y="2160589"/>
            <a:ext cx="8596668" cy="3880773"/>
          </a:xfrm>
          <a:prstGeom prst="rect">
            <a:avLst/>
          </a:prstGeom>
        </p:spPr>
        <p:txBody>
          <a:bodyPr vert="horz" lIns="91440" tIns="45720" rIns="91440" bIns="45720" rtlCol="0">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2114677709" name="Date Placeholder 3"/>
          <p:cNvSpPr>
            <a:spLocks noGrp="1"/>
          </p:cNvSpPr>
          <p:nvPr>
            <p:ph type="dt" sz="half" idx="2"/>
          </p:nvPr>
        </p:nvSpPr>
        <p:spPr bwMode="auto">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160D2629-EB7F-476C-917C-1A2712D5FEF1}" type="datetimeFigureOut">
              <a:rPr lang="en-IN"/>
              <a:t>17-10-2025</a:t>
            </a:fld>
            <a:endParaRPr lang="en-IN"/>
          </a:p>
        </p:txBody>
      </p:sp>
      <p:sp>
        <p:nvSpPr>
          <p:cNvPr id="2105867366" name="Footer Placeholder 4"/>
          <p:cNvSpPr>
            <a:spLocks noGrp="1"/>
          </p:cNvSpPr>
          <p:nvPr>
            <p:ph type="ftr" sz="quarter" idx="3"/>
          </p:nvPr>
        </p:nvSpPr>
        <p:spPr bwMode="auto">
          <a:xfrm>
            <a:off x="677334" y="6041362"/>
            <a:ext cx="6297611"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IN"/>
          </a:p>
        </p:txBody>
      </p:sp>
      <p:sp>
        <p:nvSpPr>
          <p:cNvPr id="377968223" name="Slide Number Placeholder 5"/>
          <p:cNvSpPr>
            <a:spLocks noGrp="1"/>
          </p:cNvSpPr>
          <p:nvPr>
            <p:ph type="sldNum" sz="quarter" idx="4"/>
          </p:nvPr>
        </p:nvSpPr>
        <p:spPr bwMode="auto">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a:defRPr/>
            </a:pPr>
            <a:fld id="{DEAFEE2E-62F2-4DCD-84AD-F2DF8723E290}" type="slidenum">
              <a:rPr lang="en-IN"/>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a:spcBef>
          <a:spcPts val="0"/>
        </a:spcBef>
        <a:buNone/>
        <a:defRPr sz="3600">
          <a:solidFill>
            <a:schemeClr val="accent1"/>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342900" indent="-342900" algn="l" defTabSz="457200" rtl="0">
        <a:spcBef>
          <a:spcPts val="1000"/>
        </a:spcBef>
        <a:spcAft>
          <a:spcPts val="0"/>
        </a:spcAft>
        <a:buClr>
          <a:schemeClr val="accent1"/>
        </a:buClr>
        <a:buSzPct val="80000"/>
        <a:buFont typeface="Wingdings 3" panose="05040102010807070707"/>
        <a:buChar char=""/>
        <a:defRPr sz="1800">
          <a:solidFill>
            <a:schemeClr val="tx1">
              <a:lumMod val="75000"/>
              <a:lumOff val="25000"/>
            </a:schemeClr>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panose="05040102010807070707"/>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panose="05040102010807070707"/>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panose="05040102010807070707"/>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panose="05040102010807070707"/>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panose="05040102010807070707"/>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panose="05040102010807070707"/>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panose="05040102010807070707"/>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panose="05040102010807070707"/>
        <a:buChar char=""/>
        <a:defRPr sz="1200">
          <a:solidFill>
            <a:schemeClr val="tx1">
              <a:lumMod val="75000"/>
              <a:lumOff val="25000"/>
            </a:schemeClr>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hyperlink" Target="https://doi.org/10.1109/ICMLAS64557.2025.10969070"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23822228" name="object 3"/>
          <p:cNvSpPr txBox="1">
            <a:spLocks noGrp="1"/>
          </p:cNvSpPr>
          <p:nvPr>
            <p:ph type="title"/>
          </p:nvPr>
        </p:nvSpPr>
        <p:spPr bwMode="auto">
          <a:xfrm>
            <a:off x="963601" y="618573"/>
            <a:ext cx="9525719" cy="646154"/>
          </a:xfrm>
          <a:prstGeom prst="rect">
            <a:avLst/>
          </a:prstGeom>
        </p:spPr>
        <p:txBody>
          <a:bodyPr vert="horz" wrap="square" lIns="0" tIns="97155" rIns="0" bIns="0" rtlCol="0">
            <a:spAutoFit/>
          </a:bodyPr>
          <a:lstStyle/>
          <a:p>
            <a:pPr algn="ctr">
              <a:defRPr/>
            </a:pPr>
            <a:r>
              <a:rPr lang="en-US" sz="1800" b="1" spc="330">
                <a:solidFill>
                  <a:schemeClr val="accent5">
                    <a:lumMod val="75000"/>
                  </a:schemeClr>
                </a:solidFill>
                <a:latin typeface="Times New Roman" panose="02020603050405020304"/>
                <a:cs typeface="Times New Roman" panose="02020603050405020304"/>
              </a:rPr>
              <a:t>SMART ECO-ROUTING SYSTEM FOR SUSTAINABLE </a:t>
            </a:r>
            <a:br>
              <a:rPr lang="en-US" sz="1800" b="1" spc="330">
                <a:solidFill>
                  <a:schemeClr val="accent5">
                    <a:lumMod val="75000"/>
                  </a:schemeClr>
                </a:solidFill>
                <a:latin typeface="Times New Roman" panose="02020603050405020304"/>
                <a:cs typeface="Times New Roman" panose="02020603050405020304"/>
              </a:rPr>
            </a:br>
            <a:r>
              <a:rPr lang="en-US" sz="1800" b="1" spc="330">
                <a:solidFill>
                  <a:schemeClr val="accent5">
                    <a:lumMod val="75000"/>
                  </a:schemeClr>
                </a:solidFill>
                <a:latin typeface="Times New Roman" panose="02020603050405020304"/>
                <a:cs typeface="Times New Roman" panose="02020603050405020304"/>
              </a:rPr>
              <a:t>URBAN MOBILITY</a:t>
            </a:r>
            <a:endParaRPr b="1"/>
          </a:p>
        </p:txBody>
      </p:sp>
      <p:sp>
        <p:nvSpPr>
          <p:cNvPr id="252105120" name="TextBox 1"/>
          <p:cNvSpPr txBox="1"/>
          <p:nvPr/>
        </p:nvSpPr>
        <p:spPr bwMode="auto">
          <a:xfrm>
            <a:off x="2633621" y="3619887"/>
            <a:ext cx="5334000" cy="3087370"/>
          </a:xfrm>
          <a:prstGeom prst="rect">
            <a:avLst/>
          </a:prstGeom>
          <a:noFill/>
        </p:spPr>
        <p:txBody>
          <a:bodyPr wrap="square" rtlCol="0">
            <a:noAutofit/>
          </a:bodyPr>
          <a:lstStyle/>
          <a:p>
            <a:pPr algn="ctr">
              <a:defRPr/>
            </a:pPr>
            <a:r>
              <a:rPr lang="en-IN" sz="1800">
                <a:latin typeface="Times New Roman" panose="02020603050405020304"/>
                <a:ea typeface="Times New Roman" panose="02020603050405020304"/>
                <a:cs typeface="Times New Roman" panose="02020603050405020304"/>
              </a:rPr>
              <a:t>Under the Guidance of</a:t>
            </a:r>
            <a:endParaRPr sz="1800">
              <a:latin typeface="Times New Roman" panose="02020603050405020304"/>
              <a:cs typeface="Times New Roman" panose="02020603050405020304"/>
            </a:endParaRPr>
          </a:p>
          <a:p>
            <a:pPr algn="ctr">
              <a:defRPr/>
            </a:pPr>
            <a:endParaRPr sz="1800">
              <a:latin typeface="Times New Roman" panose="02020603050405020304"/>
              <a:cs typeface="Times New Roman" panose="02020603050405020304"/>
            </a:endParaRPr>
          </a:p>
          <a:p>
            <a:pPr algn="ctr">
              <a:defRPr/>
            </a:pPr>
            <a:r>
              <a:rPr lang="en-IN" sz="1800" b="1">
                <a:latin typeface="Times New Roman" panose="02020603050405020304"/>
                <a:ea typeface="Times New Roman" panose="02020603050405020304"/>
                <a:cs typeface="Times New Roman" panose="02020603050405020304"/>
              </a:rPr>
              <a:t>M</a:t>
            </a:r>
            <a:r>
              <a:rPr lang="en-US" sz="1800" b="1">
                <a:latin typeface="Times New Roman" panose="02020603050405020304"/>
                <a:ea typeface="Times New Roman" panose="02020603050405020304"/>
                <a:cs typeface="Times New Roman" panose="02020603050405020304"/>
              </a:rPr>
              <a:t>rs.N.Sravani,M.tech</a:t>
            </a:r>
            <a:endParaRPr sz="1800" b="1">
              <a:latin typeface="Times New Roman" panose="02020603050405020304"/>
              <a:cs typeface="Times New Roman" panose="02020603050405020304"/>
            </a:endParaRPr>
          </a:p>
          <a:p>
            <a:pPr algn="ctr">
              <a:defRPr/>
            </a:pPr>
            <a:endParaRPr sz="1800" b="1">
              <a:latin typeface="Times New Roman" panose="02020603050405020304"/>
              <a:cs typeface="Times New Roman" panose="02020603050405020304"/>
            </a:endParaRPr>
          </a:p>
          <a:p>
            <a:pPr algn="ctr">
              <a:defRPr/>
            </a:pPr>
            <a:r>
              <a:rPr lang="en-IN" sz="1800" b="1">
                <a:latin typeface="Times New Roman" panose="02020603050405020304"/>
                <a:ea typeface="Times New Roman" panose="02020603050405020304"/>
                <a:cs typeface="Times New Roman" panose="02020603050405020304"/>
              </a:rPr>
              <a:t>Assi</a:t>
            </a:r>
            <a:r>
              <a:rPr lang="en-US" sz="1800" b="1">
                <a:latin typeface="Times New Roman" panose="02020603050405020304"/>
                <a:ea typeface="Times New Roman" panose="02020603050405020304"/>
                <a:cs typeface="Times New Roman" panose="02020603050405020304"/>
              </a:rPr>
              <a:t>st</a:t>
            </a:r>
            <a:r>
              <a:rPr lang="en-IN" sz="1800" b="1">
                <a:latin typeface="Times New Roman" panose="02020603050405020304"/>
                <a:ea typeface="Times New Roman" panose="02020603050405020304"/>
                <a:cs typeface="Times New Roman" panose="02020603050405020304"/>
              </a:rPr>
              <a:t>a</a:t>
            </a:r>
            <a:r>
              <a:rPr lang="en-US" sz="1800" b="1">
                <a:latin typeface="Times New Roman" panose="02020603050405020304"/>
                <a:ea typeface="Times New Roman" panose="02020603050405020304"/>
                <a:cs typeface="Times New Roman" panose="02020603050405020304"/>
              </a:rPr>
              <a:t>n</a:t>
            </a:r>
            <a:r>
              <a:rPr lang="en-IN" sz="1800" b="1">
                <a:latin typeface="Times New Roman" panose="02020603050405020304"/>
                <a:ea typeface="Times New Roman" panose="02020603050405020304"/>
                <a:cs typeface="Times New Roman" panose="02020603050405020304"/>
              </a:rPr>
              <a:t>t </a:t>
            </a:r>
            <a:r>
              <a:rPr lang="en-US" sz="1800" b="1">
                <a:latin typeface="Times New Roman" panose="02020603050405020304"/>
                <a:ea typeface="Times New Roman" panose="02020603050405020304"/>
                <a:cs typeface="Times New Roman" panose="02020603050405020304"/>
              </a:rPr>
              <a:t>p</a:t>
            </a:r>
            <a:r>
              <a:rPr lang="en-IN" sz="1800" b="1">
                <a:latin typeface="Times New Roman" panose="02020603050405020304"/>
                <a:ea typeface="Times New Roman" panose="02020603050405020304"/>
                <a:cs typeface="Times New Roman" panose="02020603050405020304"/>
              </a:rPr>
              <a:t>rofessor</a:t>
            </a:r>
            <a:r>
              <a:rPr lang="en-US" sz="1800" b="1">
                <a:latin typeface="Times New Roman" panose="02020603050405020304"/>
                <a:ea typeface="Times New Roman" panose="02020603050405020304"/>
                <a:cs typeface="Times New Roman" panose="02020603050405020304"/>
              </a:rPr>
              <a:t>,</a:t>
            </a:r>
            <a:endParaRPr sz="1800" b="1">
              <a:latin typeface="Times New Roman" panose="02020603050405020304"/>
              <a:cs typeface="Times New Roman" panose="02020603050405020304"/>
            </a:endParaRPr>
          </a:p>
          <a:p>
            <a:pPr algn="ctr">
              <a:defRPr/>
            </a:pPr>
            <a:endParaRPr sz="1800" b="1">
              <a:latin typeface="Times New Roman" panose="02020603050405020304"/>
              <a:cs typeface="Times New Roman" panose="02020603050405020304"/>
            </a:endParaRPr>
          </a:p>
          <a:p>
            <a:pPr algn="ctr">
              <a:lnSpc>
                <a:spcPct val="100000"/>
              </a:lnSpc>
              <a:defRPr/>
            </a:pPr>
            <a:r>
              <a:rPr lang="en-IN" sz="1800">
                <a:latin typeface="Times New Roman" panose="02020603050405020304"/>
                <a:ea typeface="Times New Roman" panose="02020603050405020304"/>
                <a:cs typeface="Times New Roman" panose="02020603050405020304"/>
              </a:rPr>
              <a:t>ECE</a:t>
            </a:r>
            <a:r>
              <a:rPr lang="en-US" sz="1800">
                <a:latin typeface="Times New Roman" panose="02020603050405020304"/>
                <a:ea typeface="Times New Roman" panose="02020603050405020304"/>
                <a:cs typeface="Times New Roman" panose="02020603050405020304"/>
              </a:rPr>
              <a:t> </a:t>
            </a:r>
            <a:r>
              <a:rPr lang="en-IN" sz="1800">
                <a:latin typeface="Times New Roman" panose="02020603050405020304"/>
                <a:ea typeface="Times New Roman" panose="02020603050405020304"/>
                <a:cs typeface="Times New Roman" panose="02020603050405020304"/>
              </a:rPr>
              <a:t> Department</a:t>
            </a:r>
            <a:endParaRPr sz="1800">
              <a:latin typeface="Times New Roman" panose="02020603050405020304"/>
              <a:cs typeface="Times New Roman" panose="02020603050405020304"/>
            </a:endParaRPr>
          </a:p>
          <a:p>
            <a:pPr algn="ctr">
              <a:defRPr/>
            </a:pPr>
            <a:endParaRPr>
              <a:latin typeface="Times New Roman" panose="02020603050405020304"/>
              <a:cs typeface="Times New Roman" panose="02020603050405020304"/>
            </a:endParaRPr>
          </a:p>
          <a:p>
            <a:pPr algn="ctr">
              <a:defRPr/>
            </a:pPr>
            <a:r>
              <a:rPr lang="en-IN" b="1">
                <a:latin typeface="Times New Roman" panose="02020603050405020304"/>
                <a:ea typeface="Times New Roman" panose="02020603050405020304"/>
                <a:cs typeface="Times New Roman" panose="02020603050405020304"/>
              </a:rPr>
              <a:t>St. PETER’S ENGINEERING COLLEGE</a:t>
            </a:r>
            <a:endParaRPr>
              <a:latin typeface="Times New Roman" panose="02020603050405020304"/>
              <a:cs typeface="Times New Roman" panose="02020603050405020304"/>
            </a:endParaRPr>
          </a:p>
          <a:p>
            <a:pPr algn="ctr">
              <a:defRPr/>
            </a:pPr>
            <a:endParaRPr>
              <a:latin typeface="Times New Roman" panose="02020603050405020304"/>
              <a:cs typeface="Times New Roman" panose="02020603050405020304"/>
            </a:endParaRPr>
          </a:p>
          <a:p>
            <a:pPr algn="ctr">
              <a:defRPr/>
            </a:pPr>
            <a:r>
              <a:rPr lang="en-IN" sz="1800">
                <a:latin typeface="Times New Roman" panose="02020603050405020304"/>
                <a:ea typeface="Times New Roman" panose="02020603050405020304"/>
                <a:cs typeface="Times New Roman" panose="02020603050405020304"/>
              </a:rPr>
              <a:t>Hyderabad</a:t>
            </a:r>
            <a:endParaRPr sz="1800">
              <a:latin typeface="Times New Roman" panose="02020603050405020304"/>
              <a:cs typeface="Times New Roman" panose="02020603050405020304"/>
            </a:endParaRPr>
          </a:p>
        </p:txBody>
      </p:sp>
      <p:sp>
        <p:nvSpPr>
          <p:cNvPr id="1502554390" name="TextBox 4"/>
          <p:cNvSpPr txBox="1"/>
          <p:nvPr/>
        </p:nvSpPr>
        <p:spPr bwMode="auto">
          <a:xfrm>
            <a:off x="3651840" y="2361839"/>
            <a:ext cx="4888679" cy="1067159"/>
          </a:xfrm>
          <a:prstGeom prst="rect">
            <a:avLst/>
          </a:prstGeom>
          <a:noFill/>
        </p:spPr>
        <p:txBody>
          <a:bodyPr wrap="square" rtlCol="0">
            <a:spAutoFit/>
          </a:bodyPr>
          <a:lstStyle/>
          <a:p>
            <a:pPr algn="just">
              <a:defRPr/>
            </a:pPr>
            <a:endParaRPr sz="1600" b="1">
              <a:latin typeface="Times New Roman" panose="02020603050405020304"/>
              <a:cs typeface="Times New Roman" panose="02020603050405020304"/>
            </a:endParaRPr>
          </a:p>
          <a:p>
            <a:pPr algn="just">
              <a:defRPr/>
            </a:pPr>
            <a:r>
              <a:rPr lang="en-US" sz="1600" b="1">
                <a:latin typeface="Times New Roman" panose="02020603050405020304"/>
                <a:cs typeface="Times New Roman" panose="02020603050405020304"/>
              </a:rPr>
              <a:t> BERI ASHWINI   </a:t>
            </a:r>
            <a:r>
              <a:rPr lang="en-US" sz="1600">
                <a:solidFill>
                  <a:schemeClr val="tx1">
                    <a:lumMod val="95000"/>
                    <a:lumOff val="5000"/>
                  </a:schemeClr>
                </a:solidFill>
                <a:latin typeface="Times New Roman" panose="02020603050405020304"/>
                <a:cs typeface="Times New Roman" panose="02020603050405020304"/>
              </a:rPr>
              <a:t> -     </a:t>
            </a:r>
            <a:r>
              <a:rPr lang="en-IN" sz="1600" b="1">
                <a:solidFill>
                  <a:schemeClr val="tx1">
                    <a:lumMod val="95000"/>
                    <a:lumOff val="5000"/>
                  </a:schemeClr>
                </a:solidFill>
                <a:latin typeface="Times New Roman" panose="02020603050405020304"/>
                <a:cs typeface="Times New Roman" panose="02020603050405020304"/>
              </a:rPr>
              <a:t>23BK5A040</a:t>
            </a:r>
            <a:r>
              <a:rPr lang="en-US" sz="1600" b="1">
                <a:solidFill>
                  <a:schemeClr val="tx1">
                    <a:lumMod val="95000"/>
                    <a:lumOff val="5000"/>
                  </a:schemeClr>
                </a:solidFill>
                <a:latin typeface="Times New Roman" panose="02020603050405020304"/>
                <a:cs typeface="Times New Roman" panose="02020603050405020304"/>
              </a:rPr>
              <a:t>1</a:t>
            </a:r>
            <a:endParaRPr sz="1600" b="1">
              <a:solidFill>
                <a:schemeClr val="tx1">
                  <a:lumMod val="95000"/>
                  <a:lumOff val="5000"/>
                </a:schemeClr>
              </a:solidFill>
              <a:latin typeface="Times New Roman" panose="02020603050405020304"/>
              <a:cs typeface="Times New Roman" panose="02020603050405020304"/>
            </a:endParaRPr>
          </a:p>
          <a:p>
            <a:pPr algn="just">
              <a:defRPr/>
            </a:pPr>
            <a:r>
              <a:rPr lang="en-US" sz="1600" b="1">
                <a:latin typeface="Times New Roman" panose="02020603050405020304"/>
                <a:cs typeface="Times New Roman" panose="02020603050405020304"/>
              </a:rPr>
              <a:t> GAICARD SUMITH</a:t>
            </a:r>
            <a:r>
              <a:rPr lang="en-IN" sz="1600" b="1">
                <a:latin typeface="Times New Roman" panose="02020603050405020304"/>
                <a:cs typeface="Times New Roman" panose="02020603050405020304"/>
              </a:rPr>
              <a:t> </a:t>
            </a:r>
            <a:r>
              <a:rPr lang="en-US" sz="1600" b="1">
                <a:latin typeface="Times New Roman" panose="02020603050405020304"/>
                <a:cs typeface="Times New Roman" panose="02020603050405020304"/>
              </a:rPr>
              <a:t>-</a:t>
            </a:r>
            <a:r>
              <a:rPr lang="en-US" sz="1600" b="1">
                <a:solidFill>
                  <a:schemeClr val="tx1">
                    <a:lumMod val="95000"/>
                    <a:lumOff val="5000"/>
                  </a:schemeClr>
                </a:solidFill>
                <a:latin typeface="Times New Roman" panose="02020603050405020304"/>
                <a:cs typeface="Times New Roman" panose="02020603050405020304"/>
              </a:rPr>
              <a:t> </a:t>
            </a:r>
            <a:r>
              <a:rPr lang="en-IN" sz="1600" b="1">
                <a:solidFill>
                  <a:schemeClr val="tx1">
                    <a:lumMod val="95000"/>
                    <a:lumOff val="5000"/>
                  </a:schemeClr>
                </a:solidFill>
                <a:latin typeface="Times New Roman" panose="02020603050405020304"/>
                <a:cs typeface="Times New Roman" panose="02020603050405020304"/>
              </a:rPr>
              <a:t>22BK1A04</a:t>
            </a:r>
            <a:r>
              <a:rPr lang="en-US" sz="1600" b="1">
                <a:solidFill>
                  <a:schemeClr val="tx1">
                    <a:lumMod val="95000"/>
                    <a:lumOff val="5000"/>
                  </a:schemeClr>
                </a:solidFill>
                <a:latin typeface="Times New Roman" panose="02020603050405020304"/>
                <a:cs typeface="Times New Roman" panose="02020603050405020304"/>
              </a:rPr>
              <a:t>36</a:t>
            </a:r>
            <a:endParaRPr sz="1600" b="1"/>
          </a:p>
          <a:p>
            <a:pPr algn="just">
              <a:defRPr/>
            </a:pPr>
            <a:r>
              <a:rPr lang="en-US" sz="1600" b="1">
                <a:solidFill>
                  <a:schemeClr val="tx1">
                    <a:lumMod val="95000"/>
                    <a:lumOff val="5000"/>
                  </a:schemeClr>
                </a:solidFill>
                <a:latin typeface="Times New Roman" panose="02020603050405020304"/>
                <a:cs typeface="Times New Roman" panose="02020603050405020304"/>
              </a:rPr>
              <a:t> G.SAI KOUSHIK      </a:t>
            </a:r>
            <a:r>
              <a:rPr lang="en-IN" sz="1600" b="1">
                <a:solidFill>
                  <a:schemeClr val="tx1">
                    <a:lumMod val="95000"/>
                    <a:lumOff val="5000"/>
                  </a:schemeClr>
                </a:solidFill>
                <a:latin typeface="Times New Roman" panose="02020603050405020304"/>
                <a:cs typeface="Times New Roman" panose="02020603050405020304"/>
              </a:rPr>
              <a:t>-</a:t>
            </a:r>
            <a:r>
              <a:rPr lang="en-US" sz="1600" b="1">
                <a:solidFill>
                  <a:schemeClr val="tx1">
                    <a:lumMod val="95000"/>
                    <a:lumOff val="5000"/>
                  </a:schemeClr>
                </a:solidFill>
                <a:latin typeface="Times New Roman" panose="02020603050405020304"/>
                <a:cs typeface="Times New Roman" panose="02020603050405020304"/>
              </a:rPr>
              <a:t>  </a:t>
            </a:r>
            <a:r>
              <a:rPr lang="en-IN" sz="1600" b="1">
                <a:solidFill>
                  <a:schemeClr val="tx1">
                    <a:lumMod val="95000"/>
                    <a:lumOff val="5000"/>
                  </a:schemeClr>
                </a:solidFill>
                <a:latin typeface="Times New Roman" panose="02020603050405020304"/>
                <a:cs typeface="Times New Roman" panose="02020603050405020304"/>
              </a:rPr>
              <a:t>22BK1A04</a:t>
            </a:r>
            <a:r>
              <a:rPr lang="en-US" sz="1600" b="1">
                <a:solidFill>
                  <a:schemeClr val="tx1">
                    <a:lumMod val="95000"/>
                    <a:lumOff val="5000"/>
                  </a:schemeClr>
                </a:solidFill>
                <a:latin typeface="Times New Roman" panose="02020603050405020304"/>
                <a:cs typeface="Times New Roman" panose="02020603050405020304"/>
              </a:rPr>
              <a:t>44</a:t>
            </a:r>
            <a:endParaRPr sz="1600" b="1"/>
          </a:p>
        </p:txBody>
      </p:sp>
      <p:sp>
        <p:nvSpPr>
          <p:cNvPr id="441570255" name="TextBox 3"/>
          <p:cNvSpPr txBox="1"/>
          <p:nvPr/>
        </p:nvSpPr>
        <p:spPr bwMode="auto">
          <a:xfrm>
            <a:off x="3687939" y="1560517"/>
            <a:ext cx="3225364" cy="640439"/>
          </a:xfrm>
          <a:prstGeom prst="rect">
            <a:avLst/>
          </a:prstGeom>
          <a:noFill/>
        </p:spPr>
        <p:txBody>
          <a:bodyPr wrap="none" rtlCol="0">
            <a:spAutoFit/>
          </a:bodyPr>
          <a:lstStyle/>
          <a:p>
            <a:pPr>
              <a:defRPr/>
            </a:pPr>
            <a:r>
              <a:rPr lang="en-US" b="1">
                <a:latin typeface="Times New Roman" panose="02020603050405020304"/>
                <a:cs typeface="Times New Roman" panose="02020603050405020304"/>
              </a:rPr>
              <a:t> </a:t>
            </a:r>
            <a:r>
              <a:rPr lang="en-IN" b="1">
                <a:latin typeface="Times New Roman" panose="02020603050405020304"/>
                <a:cs typeface="Times New Roman" panose="02020603050405020304"/>
              </a:rPr>
              <a:t>MAJOR PROJECT STAGE-1</a:t>
            </a:r>
          </a:p>
          <a:p>
            <a:pPr>
              <a:defRPr/>
            </a:pPr>
            <a:r>
              <a:rPr lang="en-IN" b="1">
                <a:latin typeface="Times New Roman" panose="02020603050405020304"/>
                <a:cs typeface="Times New Roman" panose="02020603050405020304"/>
              </a:rPr>
              <a:t>		</a:t>
            </a:r>
            <a:r>
              <a:rPr lang="en-US" b="1">
                <a:latin typeface="Times New Roman" panose="02020603050405020304"/>
                <a:cs typeface="Times New Roman" panose="02020603050405020304"/>
              </a:rPr>
              <a:t>2nd</a:t>
            </a:r>
            <a:r>
              <a:rPr lang="en-IN" b="1">
                <a:latin typeface="Times New Roman" panose="02020603050405020304"/>
                <a:cs typeface="Times New Roman" panose="02020603050405020304"/>
              </a:rPr>
              <a:t> -Review</a:t>
            </a:r>
            <a:endParaRPr lang="en-IN" b="1" baseline="30000">
              <a:latin typeface="Times New Roman" panose="02020603050405020304"/>
              <a:cs typeface="Times New Roman" panose="02020603050405020304"/>
            </a:endParaRPr>
          </a:p>
        </p:txBody>
      </p:sp>
      <p:sp>
        <p:nvSpPr>
          <p:cNvPr id="1217020381" name="TextBox 5"/>
          <p:cNvSpPr txBox="1"/>
          <p:nvPr/>
        </p:nvSpPr>
        <p:spPr bwMode="auto">
          <a:xfrm>
            <a:off x="4900571" y="2177173"/>
            <a:ext cx="505267" cy="369332"/>
          </a:xfrm>
          <a:prstGeom prst="rect">
            <a:avLst/>
          </a:prstGeom>
          <a:noFill/>
        </p:spPr>
        <p:txBody>
          <a:bodyPr wrap="none" rtlCol="0">
            <a:spAutoFit/>
          </a:bodyPr>
          <a:lstStyle/>
          <a:p>
            <a:pPr>
              <a:defRPr/>
            </a:pPr>
            <a:r>
              <a:rPr lang="en-IN">
                <a:latin typeface="Times New Roman" panose="02020603050405020304"/>
                <a:cs typeface="Times New Roman" panose="02020603050405020304"/>
              </a:rPr>
              <a:t>BY</a:t>
            </a:r>
          </a:p>
        </p:txBody>
      </p:sp>
      <p:pic>
        <p:nvPicPr>
          <p:cNvPr id="843945697" name="Picture 2" descr="https://spechyd.ac.in/wp-content/uploads/2022/06/Logo1.png"/>
          <p:cNvPicPr>
            <a:picLocks noChangeAspect="1" noChangeArrowheads="1"/>
          </p:cNvPicPr>
          <p:nvPr/>
        </p:nvPicPr>
        <p:blipFill>
          <a:blip r:embed="rId3"/>
          <a:stretch>
            <a:fillRect/>
          </a:stretch>
        </p:blipFill>
        <p:spPr bwMode="auto">
          <a:xfrm>
            <a:off x="84208" y="265119"/>
            <a:ext cx="1758786" cy="129539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3297672" name="Title 1"/>
          <p:cNvSpPr>
            <a:spLocks noGrp="1"/>
          </p:cNvSpPr>
          <p:nvPr>
            <p:ph type="title"/>
          </p:nvPr>
        </p:nvSpPr>
        <p:spPr bwMode="auto">
          <a:xfrm>
            <a:off x="2438400" y="609600"/>
            <a:ext cx="6835602" cy="1320800"/>
          </a:xfrm>
        </p:spPr>
        <p:txBody>
          <a:bodyPr/>
          <a:lstStyle/>
          <a:p>
            <a:pPr>
              <a:defRPr/>
            </a:pPr>
            <a:r>
              <a:rPr lang="en-IN" b="1">
                <a:solidFill>
                  <a:schemeClr val="accent5">
                    <a:lumMod val="75000"/>
                  </a:schemeClr>
                </a:solidFill>
                <a:latin typeface="Times New Roman" panose="02020603050405020304"/>
                <a:cs typeface="Times New Roman" panose="02020603050405020304"/>
              </a:rPr>
              <a:t>Overview Of the Presentation</a:t>
            </a:r>
          </a:p>
        </p:txBody>
      </p:sp>
      <p:sp>
        <p:nvSpPr>
          <p:cNvPr id="26892029" name="TextBox 2"/>
          <p:cNvSpPr txBox="1"/>
          <p:nvPr/>
        </p:nvSpPr>
        <p:spPr bwMode="auto">
          <a:xfrm>
            <a:off x="1964055" y="1566545"/>
            <a:ext cx="6786880" cy="4618990"/>
          </a:xfrm>
          <a:prstGeom prst="rect">
            <a:avLst/>
          </a:prstGeom>
          <a:noFill/>
        </p:spPr>
        <p:txBody>
          <a:bodyPr wrap="square" rtlCol="0">
            <a:noAutofit/>
          </a:bodyPr>
          <a:lstStyle/>
          <a:p>
            <a:pPr marL="285750" indent="-285750">
              <a:lnSpc>
                <a:spcPct val="150000"/>
              </a:lnSpc>
              <a:buFont typeface="Arial" panose="020B0604020202020204"/>
              <a:buChar char="•"/>
              <a:defRPr/>
            </a:pPr>
            <a:r>
              <a:rPr lang="en-US">
                <a:latin typeface="Times New Roman" panose="02020603050405020304"/>
                <a:cs typeface="Times New Roman" panose="02020603050405020304"/>
              </a:rPr>
              <a:t>Abstract</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Base Paper</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Introduction</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Motivation</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Literature survey</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Gaps Identified</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Project Objectives</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Existing System</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Proposed System with Block Diagram</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References</a:t>
            </a:r>
          </a:p>
        </p:txBody>
      </p:sp>
      <p:pic>
        <p:nvPicPr>
          <p:cNvPr id="898729833" name="Picture 2" descr="https://spechyd.ac.in/wp-content/uploads/2022/06/Logo1.png"/>
          <p:cNvPicPr>
            <a:picLocks noChangeAspect="1" noChangeArrowheads="1"/>
          </p:cNvPicPr>
          <p:nvPr/>
        </p:nvPicPr>
        <p:blipFill>
          <a:blip r:embed="rId3"/>
          <a:stretch>
            <a:fillRect/>
          </a:stretch>
        </p:blipFill>
        <p:spPr bwMode="auto">
          <a:xfrm>
            <a:off x="-15240" y="0"/>
            <a:ext cx="1758786" cy="1295398"/>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14578507" name="TextBox 2"/>
          <p:cNvSpPr txBox="1"/>
          <p:nvPr/>
        </p:nvSpPr>
        <p:spPr bwMode="auto">
          <a:xfrm>
            <a:off x="4397481" y="442454"/>
            <a:ext cx="2133599" cy="492443"/>
          </a:xfrm>
          <a:prstGeom prst="rect">
            <a:avLst/>
          </a:prstGeom>
          <a:noFill/>
        </p:spPr>
        <p:txBody>
          <a:bodyPr wrap="square" rtlCol="0">
            <a:spAutoFit/>
          </a:bodyPr>
          <a:lstStyle/>
          <a:p>
            <a:pPr>
              <a:defRPr/>
            </a:pPr>
            <a:r>
              <a:rPr lang="en-IN" sz="2600" b="1">
                <a:solidFill>
                  <a:schemeClr val="accent5">
                    <a:lumMod val="75000"/>
                  </a:schemeClr>
                </a:solidFill>
                <a:latin typeface="Times New Roman" panose="02020603050405020304"/>
                <a:cs typeface="Times New Roman" panose="02020603050405020304"/>
              </a:rPr>
              <a:t>ABSTRACT</a:t>
            </a:r>
            <a:endParaRPr lang="en-IN" sz="2600">
              <a:solidFill>
                <a:schemeClr val="accent5">
                  <a:lumMod val="75000"/>
                </a:schemeClr>
              </a:solidFill>
              <a:latin typeface="Times New Roman" panose="02020603050405020304"/>
              <a:cs typeface="Times New Roman" panose="02020603050405020304"/>
            </a:endParaRPr>
          </a:p>
        </p:txBody>
      </p:sp>
      <p:sp>
        <p:nvSpPr>
          <p:cNvPr id="1958362154" name="TextBox 3"/>
          <p:cNvSpPr txBox="1"/>
          <p:nvPr/>
        </p:nvSpPr>
        <p:spPr bwMode="auto">
          <a:xfrm>
            <a:off x="280221" y="1614150"/>
            <a:ext cx="9753600" cy="3782061"/>
          </a:xfrm>
          <a:prstGeom prst="rect">
            <a:avLst/>
          </a:prstGeom>
          <a:noFill/>
        </p:spPr>
        <p:txBody>
          <a:bodyPr wrap="square" rtlCol="0">
            <a:spAutoFit/>
          </a:bodyPr>
          <a:lstStyle/>
          <a:p>
            <a:pPr marL="285750" indent="-285750">
              <a:lnSpc>
                <a:spcPct val="150000"/>
              </a:lnSpc>
              <a:buFont typeface="Arial" panose="020B0604020202020204"/>
              <a:buChar char="•"/>
              <a:defRPr/>
            </a:pPr>
            <a:r>
              <a:rPr lang="en-US" dirty="0">
                <a:latin typeface="Times New Roman" panose="02020603050405020304" pitchFamily="18" charset="0"/>
                <a:cs typeface="Times New Roman" panose="02020603050405020304" pitchFamily="18" charset="0"/>
              </a:rPr>
              <a:t>Rapid urbanization leads to </a:t>
            </a:r>
            <a:r>
              <a:rPr lang="en-US" b="1" dirty="0">
                <a:latin typeface="Times New Roman" panose="02020603050405020304" pitchFamily="18" charset="0"/>
                <a:cs typeface="Times New Roman" panose="02020603050405020304" pitchFamily="18" charset="0"/>
              </a:rPr>
              <a:t>traffic congestion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air pollution</a:t>
            </a:r>
            <a:r>
              <a:rPr lang="en-US" dirty="0">
                <a:latin typeface="Times New Roman" panose="02020603050405020304" pitchFamily="18" charset="0"/>
                <a:cs typeface="Times New Roman" panose="02020603050405020304" pitchFamily="18" charset="0"/>
              </a:rPr>
              <a:t>, causing delays, fuel wastage, and harmful emissions (CO, NOₓ, PM).</a:t>
            </a:r>
          </a:p>
          <a:p>
            <a:pPr marL="285750" indent="-285750">
              <a:lnSpc>
                <a:spcPct val="150000"/>
              </a:lnSpc>
              <a:buFont typeface="Arial" panose="020B0604020202020204"/>
              <a:buChar char="•"/>
              <a:defRPr/>
            </a:pPr>
            <a:r>
              <a:rPr lang="en-US" dirty="0">
                <a:latin typeface="Times New Roman" panose="02020603050405020304" pitchFamily="18" charset="0"/>
                <a:cs typeface="Times New Roman" panose="02020603050405020304" pitchFamily="18" charset="0"/>
              </a:rPr>
              <a:t>All sensors are connected to an </a:t>
            </a:r>
            <a:r>
              <a:rPr lang="en-US" b="1" dirty="0">
                <a:latin typeface="Times New Roman" panose="02020603050405020304" pitchFamily="18" charset="0"/>
                <a:cs typeface="Times New Roman" panose="02020603050405020304" pitchFamily="18" charset="0"/>
              </a:rPr>
              <a:t>ESP32 microcontroller</a:t>
            </a:r>
            <a:r>
              <a:rPr lang="en-US" dirty="0">
                <a:latin typeface="Times New Roman" panose="02020603050405020304" pitchFamily="18" charset="0"/>
                <a:cs typeface="Times New Roman" panose="02020603050405020304" pitchFamily="18" charset="0"/>
              </a:rPr>
              <a:t>, which processes data and sends it via </a:t>
            </a:r>
            <a:r>
              <a:rPr lang="en-US" b="1" dirty="0">
                <a:latin typeface="Times New Roman" panose="02020603050405020304" pitchFamily="18" charset="0"/>
                <a:cs typeface="Times New Roman" panose="02020603050405020304" pitchFamily="18" charset="0"/>
              </a:rPr>
              <a:t>Wi-Fi</a:t>
            </a:r>
            <a:r>
              <a:rPr lang="en-US" dirty="0">
                <a:latin typeface="Times New Roman" panose="02020603050405020304" pitchFamily="18" charset="0"/>
                <a:cs typeface="Times New Roman" panose="02020603050405020304" pitchFamily="18" charset="0"/>
              </a:rPr>
              <a:t> to the </a:t>
            </a:r>
            <a:r>
              <a:rPr lang="en-US" b="1" dirty="0">
                <a:latin typeface="Times New Roman" panose="02020603050405020304" pitchFamily="18" charset="0"/>
                <a:cs typeface="Times New Roman" panose="02020603050405020304" pitchFamily="18" charset="0"/>
              </a:rPr>
              <a:t>Blynk IoT platform</a:t>
            </a:r>
            <a:r>
              <a:rPr lang="en-US"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a:buChar char="•"/>
              <a:defRP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Blynk app</a:t>
            </a:r>
            <a:r>
              <a:rPr lang="en-US" dirty="0">
                <a:latin typeface="Times New Roman" panose="02020603050405020304" pitchFamily="18" charset="0"/>
                <a:cs typeface="Times New Roman" panose="02020603050405020304" pitchFamily="18" charset="0"/>
              </a:rPr>
              <a:t> displays real-time traffic and pollution levels for routes A, B, and C.</a:t>
            </a:r>
          </a:p>
          <a:p>
            <a:pPr marL="285750" indent="-285750">
              <a:lnSpc>
                <a:spcPct val="150000"/>
              </a:lnSpc>
              <a:buFont typeface="Arial" panose="020B0604020202020204"/>
              <a:buChar char="•"/>
              <a:defRPr/>
            </a:pPr>
            <a:r>
              <a:rPr lang="en-US" dirty="0">
                <a:latin typeface="Times New Roman" panose="02020603050405020304" pitchFamily="18" charset="0"/>
                <a:cs typeface="Times New Roman" panose="02020603050405020304" pitchFamily="18" charset="0"/>
              </a:rPr>
              <a:t>The system dynamically suggests the </a:t>
            </a:r>
            <a:r>
              <a:rPr lang="en-US" b="1" dirty="0">
                <a:latin typeface="Times New Roman" panose="02020603050405020304" pitchFamily="18" charset="0"/>
                <a:cs typeface="Times New Roman" panose="02020603050405020304" pitchFamily="18" charset="0"/>
              </a:rPr>
              <a:t>most efficient and eco-friendly route</a:t>
            </a:r>
            <a:r>
              <a:rPr lang="en-US" dirty="0">
                <a:latin typeface="Times New Roman" panose="02020603050405020304" pitchFamily="18" charset="0"/>
                <a:cs typeface="Times New Roman" panose="02020603050405020304" pitchFamily="18" charset="0"/>
              </a:rPr>
              <a:t> based on live data.</a:t>
            </a:r>
          </a:p>
          <a:p>
            <a:pPr marL="285750" indent="-285750">
              <a:lnSpc>
                <a:spcPct val="150000"/>
              </a:lnSpc>
              <a:buFont typeface="Arial" panose="020B0604020202020204"/>
              <a:buChar char="•"/>
              <a:defRPr/>
            </a:pPr>
            <a:r>
              <a:rPr lang="en-US" dirty="0">
                <a:latin typeface="Times New Roman" panose="02020603050405020304" pitchFamily="18" charset="0"/>
                <a:cs typeface="Times New Roman" panose="02020603050405020304" pitchFamily="18" charset="0"/>
              </a:rPr>
              <a:t>Output is shown on both </a:t>
            </a:r>
            <a:r>
              <a:rPr lang="en-US" b="1" dirty="0">
                <a:latin typeface="Times New Roman" panose="02020603050405020304" pitchFamily="18" charset="0"/>
                <a:cs typeface="Times New Roman" panose="02020603050405020304" pitchFamily="18" charset="0"/>
              </a:rPr>
              <a:t>LCD display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Blynk app dashboard</a:t>
            </a:r>
            <a:r>
              <a:rPr lang="en-US"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a:buChar char="•"/>
              <a:defRPr/>
            </a:pPr>
            <a:r>
              <a:rPr lang="en-US" dirty="0">
                <a:latin typeface="Times New Roman" panose="02020603050405020304" pitchFamily="18" charset="0"/>
                <a:cs typeface="Times New Roman" panose="02020603050405020304" pitchFamily="18" charset="0"/>
              </a:rPr>
              <a:t>Helps reduce </a:t>
            </a:r>
            <a:r>
              <a:rPr lang="en-US" b="1" dirty="0">
                <a:latin typeface="Times New Roman" panose="02020603050405020304" pitchFamily="18" charset="0"/>
                <a:cs typeface="Times New Roman" panose="02020603050405020304" pitchFamily="18" charset="0"/>
              </a:rPr>
              <a:t>congestion, fuel consumption, and emissions</a:t>
            </a:r>
            <a:r>
              <a:rPr lang="en-US" dirty="0">
                <a:latin typeface="Times New Roman" panose="02020603050405020304" pitchFamily="18" charset="0"/>
                <a:cs typeface="Times New Roman" panose="02020603050405020304" pitchFamily="18" charset="0"/>
              </a:rPr>
              <a:t>, promoting </a:t>
            </a:r>
            <a:r>
              <a:rPr lang="en-US" b="1" dirty="0">
                <a:latin typeface="Times New Roman" panose="02020603050405020304" pitchFamily="18" charset="0"/>
                <a:cs typeface="Times New Roman" panose="02020603050405020304" pitchFamily="18" charset="0"/>
              </a:rPr>
              <a:t>smart and sustainable urban mobility</a:t>
            </a:r>
            <a:r>
              <a:rPr lang="en-US" dirty="0">
                <a:latin typeface="Times New Roman" panose="02020603050405020304" pitchFamily="18" charset="0"/>
                <a:cs typeface="Times New Roman" panose="02020603050405020304" pitchFamily="18" charset="0"/>
              </a:rPr>
              <a:t> aligned with </a:t>
            </a:r>
            <a:r>
              <a:rPr lang="en-US" b="1" dirty="0">
                <a:latin typeface="Times New Roman" panose="02020603050405020304" pitchFamily="18" charset="0"/>
                <a:cs typeface="Times New Roman" panose="02020603050405020304" pitchFamily="18" charset="0"/>
              </a:rPr>
              <a:t>SDG 11</a:t>
            </a:r>
            <a:r>
              <a:rPr lang="en-US" dirty="0">
                <a:latin typeface="Times New Roman" panose="02020603050405020304" pitchFamily="18" charset="0"/>
                <a:cs typeface="Times New Roman" panose="02020603050405020304" pitchFamily="18" charset="0"/>
              </a:rPr>
              <a:t>.</a:t>
            </a:r>
          </a:p>
        </p:txBody>
      </p:sp>
      <p:pic>
        <p:nvPicPr>
          <p:cNvPr id="726615819" name="Picture 2" descr="https://spechyd.ac.in/wp-content/uploads/2022/06/Logo1.png"/>
          <p:cNvPicPr>
            <a:picLocks noChangeAspect="1" noChangeArrowheads="1"/>
          </p:cNvPicPr>
          <p:nvPr/>
        </p:nvPicPr>
        <p:blipFill>
          <a:blip r:embed="rId3"/>
          <a:stretch>
            <a:fillRect/>
          </a:stretch>
        </p:blipFill>
        <p:spPr bwMode="auto">
          <a:xfrm>
            <a:off x="-30480" y="0"/>
            <a:ext cx="1758786" cy="1295398"/>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194743953" name="Picture 2" descr="https://spechyd.ac.in/wp-content/uploads/2022/06/Logo1.png"/>
          <p:cNvPicPr>
            <a:picLocks noChangeAspect="1" noChangeArrowheads="1"/>
          </p:cNvPicPr>
          <p:nvPr/>
        </p:nvPicPr>
        <p:blipFill>
          <a:blip r:embed="rId3"/>
          <a:stretch>
            <a:fillRect/>
          </a:stretch>
        </p:blipFill>
        <p:spPr bwMode="auto">
          <a:xfrm>
            <a:off x="87507" y="127819"/>
            <a:ext cx="1758786" cy="1295398"/>
          </a:xfrm>
          <a:prstGeom prst="rect">
            <a:avLst/>
          </a:prstGeom>
          <a:noFill/>
        </p:spPr>
      </p:pic>
      <p:sp>
        <p:nvSpPr>
          <p:cNvPr id="348029408" name="TextBox 4"/>
          <p:cNvSpPr txBox="1"/>
          <p:nvPr/>
        </p:nvSpPr>
        <p:spPr bwMode="auto">
          <a:xfrm>
            <a:off x="4778477" y="590852"/>
            <a:ext cx="3667433" cy="400110"/>
          </a:xfrm>
          <a:prstGeom prst="rect">
            <a:avLst/>
          </a:prstGeom>
          <a:noFill/>
        </p:spPr>
        <p:txBody>
          <a:bodyPr wrap="square">
            <a:spAutoFit/>
          </a:bodyPr>
          <a:lstStyle/>
          <a:p>
            <a:pPr>
              <a:defRPr/>
            </a:pPr>
            <a:r>
              <a:rPr lang="en-IN" sz="2000" b="1">
                <a:solidFill>
                  <a:schemeClr val="accent5">
                    <a:lumMod val="75000"/>
                  </a:schemeClr>
                </a:solidFill>
                <a:latin typeface="Times New Roman" panose="02020603050405020304"/>
                <a:cs typeface="Times New Roman" panose="02020603050405020304"/>
              </a:rPr>
              <a:t>BASE PAPER</a:t>
            </a:r>
            <a:endParaRPr lang="en-IN" sz="2000"/>
          </a:p>
        </p:txBody>
      </p:sp>
      <p:sp>
        <p:nvSpPr>
          <p:cNvPr id="2052731404" name="TextBox 6"/>
          <p:cNvSpPr txBox="1"/>
          <p:nvPr/>
        </p:nvSpPr>
        <p:spPr bwMode="auto">
          <a:xfrm>
            <a:off x="1179195" y="1693544"/>
            <a:ext cx="8554720" cy="3969385"/>
          </a:xfrm>
          <a:prstGeom prst="rect">
            <a:avLst/>
          </a:prstGeom>
          <a:noFill/>
        </p:spPr>
        <p:txBody>
          <a:bodyPr wrap="square">
            <a:spAutoFit/>
          </a:bodyPr>
          <a:lstStyle/>
          <a:p>
            <a:pPr marL="285750" indent="-285750">
              <a:buFont typeface="Wingdings" panose="05000000000000000000"/>
              <a:buChar char="§"/>
              <a:defRPr/>
            </a:pPr>
            <a:r>
              <a:rPr lang="en-US" b="1" u="sng" dirty="0">
                <a:latin typeface="Times New Roman" panose="02020603050405020304"/>
                <a:cs typeface="Times New Roman" panose="02020603050405020304"/>
              </a:rPr>
              <a:t>Title of the Base paper: </a:t>
            </a:r>
            <a:r>
              <a:rPr lang="en-US" dirty="0">
                <a:latin typeface="Times New Roman" panose="02020603050405020304"/>
                <a:cs typeface="Times New Roman" panose="02020603050405020304"/>
              </a:rPr>
              <a:t>	</a:t>
            </a:r>
          </a:p>
          <a:p>
            <a:pPr algn="just">
              <a:defRPr/>
            </a:pPr>
            <a:r>
              <a:rPr lang="en-US" dirty="0">
                <a:latin typeface="Times New Roman" panose="02020603050405020304"/>
                <a:cs typeface="Times New Roman" panose="02020603050405020304"/>
              </a:rPr>
              <a:t>	"Eco-Routing Algorithm for Sustainable Urban Traffic and Pollution Management Supporting SDG 11"</a:t>
            </a:r>
          </a:p>
          <a:p>
            <a:pPr marL="285750" indent="-285750">
              <a:buFont typeface="Wingdings" panose="05000000000000000000"/>
              <a:buChar char="§"/>
              <a:defRPr/>
            </a:pPr>
            <a:r>
              <a:rPr lang="en-US" b="1" u="sng" dirty="0">
                <a:latin typeface="Times New Roman" panose="02020603050405020304"/>
                <a:cs typeface="Times New Roman" panose="02020603050405020304"/>
              </a:rPr>
              <a:t>APA Citation: </a:t>
            </a:r>
          </a:p>
          <a:p>
            <a:pPr algn="just">
              <a:defRPr/>
            </a:pPr>
            <a:r>
              <a:rPr lang="en-US" dirty="0">
                <a:latin typeface="Times New Roman" panose="02020603050405020304"/>
                <a:cs typeface="Times New Roman" panose="02020603050405020304"/>
              </a:rPr>
              <a:t>	Shahul Hammed, S., Preethi, C., Haripriya, K., Pavalarajan, S., Gowtham, M. R., &amp; Krithick, N. A. (2025). Eco-routing algorithm for sustainable urban traffic and pollution management supporting SDG 11. Proceedings of the International Conference on Machine Learning and Autonomous Systems (ICMLAS-2025). IEEE. https://doi.org/10.1109/ICMLAS64557.2025.10969070</a:t>
            </a:r>
          </a:p>
          <a:p>
            <a:pPr>
              <a:defRPr/>
            </a:pPr>
            <a:r>
              <a:rPr lang="en-US" b="1" u="sng" dirty="0">
                <a:latin typeface="Times New Roman" panose="02020603050405020304"/>
                <a:cs typeface="Times New Roman" panose="02020603050405020304"/>
              </a:rPr>
              <a:t>Base Paper Introduction:</a:t>
            </a:r>
          </a:p>
          <a:p>
            <a:pPr algn="just">
              <a:defRPr/>
            </a:pPr>
            <a:r>
              <a:rPr lang="en-US" dirty="0">
                <a:latin typeface="Times New Roman" panose="02020603050405020304"/>
                <a:cs typeface="Times New Roman" panose="02020603050405020304"/>
              </a:rPr>
              <a:t>   	  The base paper presents an eco-routing algorithm designed to reduce traffic congestion and urban air pollution. It focuses on selecting routes not only based on speed or distance, but also considering environmental factors. The approach supports SDG 11 by promoting sustainable and efficient urban mobility.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923264527" name="Picture 2" descr="https://spechyd.ac.in/wp-content/uploads/2022/06/Logo1.png"/>
          <p:cNvPicPr>
            <a:picLocks noChangeAspect="1" noChangeArrowheads="1"/>
          </p:cNvPicPr>
          <p:nvPr/>
        </p:nvPicPr>
        <p:blipFill>
          <a:blip r:embed="rId3"/>
          <a:stretch>
            <a:fillRect/>
          </a:stretch>
        </p:blipFill>
        <p:spPr bwMode="auto">
          <a:xfrm>
            <a:off x="0" y="98322"/>
            <a:ext cx="1758786" cy="1295398"/>
          </a:xfrm>
          <a:prstGeom prst="rect">
            <a:avLst/>
          </a:prstGeom>
          <a:noFill/>
        </p:spPr>
      </p:pic>
      <p:sp>
        <p:nvSpPr>
          <p:cNvPr id="1840492800" name="TextBox 3"/>
          <p:cNvSpPr txBox="1"/>
          <p:nvPr/>
        </p:nvSpPr>
        <p:spPr bwMode="auto">
          <a:xfrm>
            <a:off x="3827206" y="545966"/>
            <a:ext cx="4933336" cy="400110"/>
          </a:xfrm>
          <a:prstGeom prst="rect">
            <a:avLst/>
          </a:prstGeom>
          <a:noFill/>
        </p:spPr>
        <p:txBody>
          <a:bodyPr wrap="square">
            <a:spAutoFit/>
          </a:bodyPr>
          <a:lstStyle/>
          <a:p>
            <a:pPr>
              <a:defRPr/>
            </a:pPr>
            <a:r>
              <a:rPr lang="en-IN" sz="2000" b="1">
                <a:solidFill>
                  <a:schemeClr val="accent5">
                    <a:lumMod val="75000"/>
                  </a:schemeClr>
                </a:solidFill>
                <a:latin typeface="Times New Roman" panose="02020603050405020304"/>
                <a:cs typeface="Times New Roman" panose="02020603050405020304"/>
              </a:rPr>
              <a:t>INTRODUCTION</a:t>
            </a:r>
            <a:endParaRPr lang="en-IN" sz="2000"/>
          </a:p>
        </p:txBody>
      </p:sp>
      <p:sp>
        <p:nvSpPr>
          <p:cNvPr id="1370556888" name="TextBox 5"/>
          <p:cNvSpPr txBox="1"/>
          <p:nvPr/>
        </p:nvSpPr>
        <p:spPr bwMode="auto">
          <a:xfrm>
            <a:off x="1034415" y="1749425"/>
            <a:ext cx="8278495" cy="4000500"/>
          </a:xfrm>
          <a:prstGeom prst="rect">
            <a:avLst/>
          </a:prstGeom>
          <a:noFill/>
        </p:spPr>
        <p:txBody>
          <a:bodyPr wrap="square">
            <a:noAutofit/>
          </a:bodyPr>
          <a:lstStyle/>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This project aims to reduce traffic congestion and air pollution in cities.</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Our project gives a better route by checking real-time traffic and pollution levels.</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Helps in saving fuel, reducing travel time, and lowering harmful emissions.</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Promotes clean, safe, and smart transportation systems within city environments.</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Aligned with Sustainable Development Goal 11 – Sustainable Cities and Communities.</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Focuses on selecting environmentally friendly and less crowded travel routes.Beneficial for daily commuters, smart mobility applications, and urban planning systems.</a:t>
            </a:r>
          </a:p>
          <a:p>
            <a:pPr marL="285750" indent="-285750" algn="just">
              <a:lnSpc>
                <a:spcPct val="150000"/>
              </a:lnSpc>
              <a:buFont typeface="Arial" panose="020B0604020202020204"/>
              <a:buChar char="•"/>
              <a:defRPr/>
            </a:pPr>
            <a:endParaRPr lang="en-US">
              <a:latin typeface="Times New Roman" panose="02020603050405020304"/>
              <a:cs typeface="Times New Roman" panose="02020603050405020304"/>
            </a:endParaRPr>
          </a:p>
          <a:p>
            <a:pPr indent="0" algn="just">
              <a:lnSpc>
                <a:spcPct val="150000"/>
              </a:lnSpc>
              <a:buFont typeface="Arial" panose="020B0604020202020204"/>
              <a:buNone/>
              <a:defRPr/>
            </a:pPr>
            <a:endParaRPr lang="en-US">
              <a:latin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27606851" name="Picture 2" descr="https://spechyd.ac.in/wp-content/uploads/2022/06/Logo1.png"/>
          <p:cNvPicPr>
            <a:picLocks noChangeAspect="1" noChangeArrowheads="1"/>
          </p:cNvPicPr>
          <p:nvPr/>
        </p:nvPicPr>
        <p:blipFill>
          <a:blip r:embed="rId3"/>
          <a:stretch>
            <a:fillRect/>
          </a:stretch>
        </p:blipFill>
        <p:spPr bwMode="auto">
          <a:xfrm>
            <a:off x="0" y="98322"/>
            <a:ext cx="1508488" cy="1111046"/>
          </a:xfrm>
          <a:prstGeom prst="rect">
            <a:avLst/>
          </a:prstGeom>
          <a:noFill/>
        </p:spPr>
      </p:pic>
      <p:sp>
        <p:nvSpPr>
          <p:cNvPr id="568367848" name="TextBox 3"/>
          <p:cNvSpPr txBox="1"/>
          <p:nvPr/>
        </p:nvSpPr>
        <p:spPr bwMode="auto">
          <a:xfrm>
            <a:off x="4041058" y="582250"/>
            <a:ext cx="4542503" cy="400110"/>
          </a:xfrm>
          <a:prstGeom prst="rect">
            <a:avLst/>
          </a:prstGeom>
          <a:noFill/>
        </p:spPr>
        <p:txBody>
          <a:bodyPr wrap="square">
            <a:spAutoFit/>
          </a:bodyPr>
          <a:lstStyle/>
          <a:p>
            <a:pPr>
              <a:defRPr/>
            </a:pPr>
            <a:r>
              <a:rPr lang="en-IN" sz="2000" b="1">
                <a:solidFill>
                  <a:schemeClr val="accent5">
                    <a:lumMod val="75000"/>
                  </a:schemeClr>
                </a:solidFill>
                <a:latin typeface="Times New Roman" panose="02020603050405020304"/>
                <a:cs typeface="Times New Roman" panose="02020603050405020304"/>
              </a:rPr>
              <a:t>MOTIVATION</a:t>
            </a:r>
            <a:endParaRPr lang="en-IN" sz="2000"/>
          </a:p>
        </p:txBody>
      </p:sp>
      <p:sp>
        <p:nvSpPr>
          <p:cNvPr id="515244164" name="TextBox 5"/>
          <p:cNvSpPr txBox="1"/>
          <p:nvPr/>
        </p:nvSpPr>
        <p:spPr bwMode="auto">
          <a:xfrm>
            <a:off x="664845" y="1474470"/>
            <a:ext cx="9420860" cy="3692525"/>
          </a:xfrm>
          <a:prstGeom prst="rect">
            <a:avLst/>
          </a:prstGeom>
          <a:noFill/>
        </p:spPr>
        <p:txBody>
          <a:bodyPr wrap="square">
            <a:spAutoFit/>
          </a:bodyPr>
          <a:lstStyle/>
          <a:p>
            <a:pPr marL="285750" indent="-285750" algn="just">
              <a:buFont typeface="Arial" panose="020B0604020202020204"/>
              <a:buChar char="•"/>
              <a:defRPr/>
            </a:pPr>
            <a:r>
              <a:rPr lang="en-US">
                <a:latin typeface="Times New Roman" panose="02020603050405020304"/>
                <a:cs typeface="Times New Roman" panose="02020603050405020304"/>
              </a:rPr>
              <a:t>Rapid growth of vehicles in cities is causing severe traffic congestion.</a:t>
            </a:r>
          </a:p>
          <a:p>
            <a:pPr marL="285750" indent="-285750" algn="just">
              <a:buFont typeface="Arial" panose="020B0604020202020204"/>
              <a:buChar char="•"/>
              <a:defRPr/>
            </a:pPr>
            <a:endParaRPr lang="en-US">
              <a:latin typeface="Times New Roman" panose="02020603050405020304"/>
              <a:cs typeface="Times New Roman" panose="02020603050405020304"/>
            </a:endParaRPr>
          </a:p>
          <a:p>
            <a:pPr marL="285750" indent="-285750" algn="just">
              <a:buFont typeface="Arial" panose="020B0604020202020204"/>
              <a:buChar char="•"/>
              <a:defRPr/>
            </a:pPr>
            <a:r>
              <a:rPr lang="en-US">
                <a:latin typeface="Times New Roman" panose="02020603050405020304"/>
                <a:cs typeface="Times New Roman" panose="02020603050405020304"/>
              </a:rPr>
              <a:t>Increasing air pollution from vehicles is affecting public health and the environment.</a:t>
            </a:r>
          </a:p>
          <a:p>
            <a:pPr marL="285750" indent="-285750" algn="just">
              <a:buFont typeface="Arial" panose="020B0604020202020204"/>
              <a:buChar char="•"/>
              <a:defRPr/>
            </a:pPr>
            <a:endParaRPr lang="en-US">
              <a:latin typeface="Times New Roman" panose="02020603050405020304"/>
              <a:cs typeface="Times New Roman" panose="02020603050405020304"/>
            </a:endParaRPr>
          </a:p>
          <a:p>
            <a:pPr marL="285750" indent="-285750" algn="just">
              <a:buFont typeface="Arial" panose="020B0604020202020204"/>
              <a:buChar char="•"/>
              <a:defRPr/>
            </a:pPr>
            <a:r>
              <a:rPr lang="en-US">
                <a:latin typeface="Times New Roman" panose="02020603050405020304"/>
                <a:cs typeface="Times New Roman" panose="02020603050405020304"/>
              </a:rPr>
              <a:t>Most existing navigation systems do not consider environmental factors while suggesting routes.</a:t>
            </a:r>
          </a:p>
          <a:p>
            <a:pPr marL="285750" indent="-285750" algn="just">
              <a:buFont typeface="Arial" panose="020B0604020202020204"/>
              <a:buChar char="•"/>
              <a:defRPr/>
            </a:pPr>
            <a:endParaRPr lang="en-US">
              <a:latin typeface="Times New Roman" panose="02020603050405020304"/>
              <a:cs typeface="Times New Roman" panose="02020603050405020304"/>
            </a:endParaRPr>
          </a:p>
          <a:p>
            <a:pPr marL="285750" indent="-285750" algn="just">
              <a:buFont typeface="Arial" panose="020B0604020202020204"/>
              <a:buChar char="•"/>
              <a:defRPr/>
            </a:pPr>
            <a:r>
              <a:rPr lang="en-US">
                <a:latin typeface="Times New Roman" panose="02020603050405020304"/>
                <a:cs typeface="Times New Roman" panose="02020603050405020304"/>
              </a:rPr>
              <a:t>There is a strong need for sustainable and smart traffic solutions in urban areas.</a:t>
            </a:r>
          </a:p>
          <a:p>
            <a:pPr marL="285750" indent="-285750" algn="just">
              <a:buFont typeface="Arial" panose="020B0604020202020204"/>
              <a:buChar char="•"/>
              <a:defRPr/>
            </a:pPr>
            <a:endParaRPr lang="en-US">
              <a:latin typeface="Times New Roman" panose="02020603050405020304"/>
              <a:cs typeface="Times New Roman" panose="02020603050405020304"/>
            </a:endParaRPr>
          </a:p>
          <a:p>
            <a:pPr marL="285750" indent="-285750" algn="just">
              <a:buFont typeface="Arial" panose="020B0604020202020204"/>
              <a:buChar char="•"/>
              <a:defRPr/>
            </a:pPr>
            <a:r>
              <a:rPr lang="en-US">
                <a:latin typeface="Times New Roman" panose="02020603050405020304"/>
                <a:cs typeface="Times New Roman" panose="02020603050405020304"/>
              </a:rPr>
              <a:t>Eco-routing can help reduce fuel consumption and minimize harmful emissions.</a:t>
            </a:r>
          </a:p>
          <a:p>
            <a:pPr marL="285750" indent="-285750" algn="just">
              <a:buFont typeface="Arial" panose="020B0604020202020204"/>
              <a:buChar char="•"/>
              <a:defRPr/>
            </a:pPr>
            <a:endParaRPr lang="en-US">
              <a:latin typeface="Times New Roman" panose="02020603050405020304"/>
              <a:cs typeface="Times New Roman" panose="02020603050405020304"/>
            </a:endParaRPr>
          </a:p>
          <a:p>
            <a:pPr marL="285750" indent="-285750" algn="just">
              <a:buFont typeface="Arial" panose="020B0604020202020204"/>
              <a:buChar char="•"/>
              <a:defRPr/>
            </a:pPr>
            <a:r>
              <a:rPr lang="en-US">
                <a:latin typeface="Times New Roman" panose="02020603050405020304"/>
                <a:cs typeface="Times New Roman" panose="02020603050405020304"/>
              </a:rPr>
              <a:t>Supporting green mobility contributes to building cleaner and smarter cities.</a:t>
            </a:r>
          </a:p>
          <a:p>
            <a:pPr marL="285750" indent="-285750" algn="just">
              <a:buFont typeface="Arial" panose="020B0604020202020204"/>
              <a:buChar char="•"/>
              <a:defRPr/>
            </a:pPr>
            <a:endParaRPr lang="en-US">
              <a:latin typeface="Times New Roman" panose="02020603050405020304"/>
              <a:cs typeface="Times New Roman" panose="02020603050405020304"/>
            </a:endParaRPr>
          </a:p>
          <a:p>
            <a:pPr marL="285750" indent="-285750" algn="just">
              <a:buFont typeface="Arial" panose="020B0604020202020204"/>
              <a:buChar char="•"/>
              <a:defRPr/>
            </a:pPr>
            <a:r>
              <a:rPr lang="en-US">
                <a:latin typeface="Times New Roman" panose="02020603050405020304"/>
                <a:cs typeface="Times New Roman" panose="02020603050405020304"/>
              </a:rPr>
              <a:t>The project aligns with the global goal of creating sustainable cities under SDG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6207874" name="Title 1"/>
          <p:cNvSpPr>
            <a:spLocks noGrp="1"/>
          </p:cNvSpPr>
          <p:nvPr>
            <p:ph type="title"/>
          </p:nvPr>
        </p:nvSpPr>
        <p:spPr bwMode="auto">
          <a:xfrm>
            <a:off x="3679614" y="182880"/>
            <a:ext cx="5830146" cy="556260"/>
          </a:xfrm>
        </p:spPr>
        <p:txBody>
          <a:bodyPr>
            <a:normAutofit/>
          </a:bodyPr>
          <a:lstStyle/>
          <a:p>
            <a:pPr>
              <a:defRPr/>
            </a:pPr>
            <a:r>
              <a:rPr lang="en-IN" sz="2000" b="1">
                <a:solidFill>
                  <a:schemeClr val="accent5">
                    <a:lumMod val="75000"/>
                  </a:schemeClr>
                </a:solidFill>
                <a:latin typeface="Times New Roman" panose="02020603050405020304"/>
                <a:cs typeface="Times New Roman" panose="02020603050405020304"/>
              </a:rPr>
              <a:t>LITERATURE SURVEY</a:t>
            </a:r>
            <a:endParaRPr lang="en-IN" sz="2000"/>
          </a:p>
        </p:txBody>
      </p:sp>
      <p:pic>
        <p:nvPicPr>
          <p:cNvPr id="1583642873" name="Picture 2" descr="https://spechyd.ac.in/wp-content/uploads/2022/06/Logo1.png"/>
          <p:cNvPicPr>
            <a:picLocks noChangeAspect="1" noChangeArrowheads="1"/>
          </p:cNvPicPr>
          <p:nvPr/>
        </p:nvPicPr>
        <p:blipFill>
          <a:blip r:embed="rId3"/>
          <a:stretch>
            <a:fillRect/>
          </a:stretch>
        </p:blipFill>
        <p:spPr bwMode="auto">
          <a:xfrm>
            <a:off x="0" y="98322"/>
            <a:ext cx="1028700" cy="757668"/>
          </a:xfrm>
          <a:prstGeom prst="rect">
            <a:avLst/>
          </a:prstGeom>
          <a:noFill/>
        </p:spPr>
      </p:pic>
      <p:graphicFrame>
        <p:nvGraphicFramePr>
          <p:cNvPr id="915643119" name="Table 3"/>
          <p:cNvGraphicFramePr>
            <a:graphicFrameLocks noGrp="1"/>
          </p:cNvGraphicFramePr>
          <p:nvPr/>
        </p:nvGraphicFramePr>
        <p:xfrm>
          <a:off x="854075" y="866140"/>
          <a:ext cx="8655685" cy="5533564"/>
        </p:xfrm>
        <a:graphic>
          <a:graphicData uri="http://schemas.openxmlformats.org/drawingml/2006/table">
            <a:tbl>
              <a:tblPr firstRow="1" bandRow="1">
                <a:tableStyleId>{5C22544A-7EE6-4342-B048-85BDC9FD1C3A}</a:tableStyleId>
              </a:tblPr>
              <a:tblGrid>
                <a:gridCol w="935355">
                  <a:extLst>
                    <a:ext uri="{9D8B030D-6E8A-4147-A177-3AD203B41FA5}">
                      <a16:colId xmlns:a16="http://schemas.microsoft.com/office/drawing/2014/main" val="20000"/>
                    </a:ext>
                  </a:extLst>
                </a:gridCol>
                <a:gridCol w="2468245">
                  <a:extLst>
                    <a:ext uri="{9D8B030D-6E8A-4147-A177-3AD203B41FA5}">
                      <a16:colId xmlns:a16="http://schemas.microsoft.com/office/drawing/2014/main" val="20001"/>
                    </a:ext>
                  </a:extLst>
                </a:gridCol>
                <a:gridCol w="1790065">
                  <a:extLst>
                    <a:ext uri="{9D8B030D-6E8A-4147-A177-3AD203B41FA5}">
                      <a16:colId xmlns:a16="http://schemas.microsoft.com/office/drawing/2014/main" val="20002"/>
                    </a:ext>
                  </a:extLst>
                </a:gridCol>
                <a:gridCol w="781685">
                  <a:extLst>
                    <a:ext uri="{9D8B030D-6E8A-4147-A177-3AD203B41FA5}">
                      <a16:colId xmlns:a16="http://schemas.microsoft.com/office/drawing/2014/main" val="20003"/>
                    </a:ext>
                  </a:extLst>
                </a:gridCol>
                <a:gridCol w="2680335">
                  <a:extLst>
                    <a:ext uri="{9D8B030D-6E8A-4147-A177-3AD203B41FA5}">
                      <a16:colId xmlns:a16="http://schemas.microsoft.com/office/drawing/2014/main" val="20004"/>
                    </a:ext>
                  </a:extLst>
                </a:gridCol>
              </a:tblGrid>
              <a:tr h="216733">
                <a:tc>
                  <a:txBody>
                    <a:bodyPr/>
                    <a:lstStyle/>
                    <a:p>
                      <a:pPr>
                        <a:defRPr/>
                      </a:pPr>
                      <a:r>
                        <a:rPr lang="en-US" sz="1000">
                          <a:latin typeface="Times New Roman" panose="02020603050405020304"/>
                          <a:cs typeface="Times New Roman" panose="02020603050405020304"/>
                        </a:rPr>
                        <a:t>S.NO</a:t>
                      </a:r>
                      <a:endParaRPr lang="en-IN" sz="1000">
                        <a:latin typeface="Times New Roman" panose="02020603050405020304"/>
                        <a:cs typeface="Times New Roman" panose="02020603050405020304"/>
                      </a:endParaRPr>
                    </a:p>
                  </a:txBody>
                  <a:tcPr/>
                </a:tc>
                <a:tc>
                  <a:txBody>
                    <a:bodyPr/>
                    <a:lstStyle/>
                    <a:p>
                      <a:pPr>
                        <a:defRPr/>
                      </a:pPr>
                      <a:r>
                        <a:rPr lang="en-US" sz="1000">
                          <a:latin typeface="Times New Roman" panose="02020603050405020304"/>
                          <a:cs typeface="Times New Roman" panose="02020603050405020304"/>
                        </a:rPr>
                        <a:t>TITLE</a:t>
                      </a:r>
                      <a:endParaRPr lang="en-IN" sz="1000">
                        <a:latin typeface="Times New Roman" panose="02020603050405020304"/>
                        <a:cs typeface="Times New Roman" panose="02020603050405020304"/>
                      </a:endParaRPr>
                    </a:p>
                  </a:txBody>
                  <a:tcPr/>
                </a:tc>
                <a:tc>
                  <a:txBody>
                    <a:bodyPr/>
                    <a:lstStyle/>
                    <a:p>
                      <a:pPr>
                        <a:defRPr/>
                      </a:pPr>
                      <a:r>
                        <a:rPr lang="en-US" sz="1000">
                          <a:latin typeface="Times New Roman" panose="02020603050405020304"/>
                          <a:cs typeface="Times New Roman" panose="02020603050405020304"/>
                        </a:rPr>
                        <a:t>AUTHOR</a:t>
                      </a:r>
                      <a:endParaRPr lang="en-IN" sz="1000">
                        <a:latin typeface="Times New Roman" panose="02020603050405020304"/>
                        <a:cs typeface="Times New Roman" panose="02020603050405020304"/>
                      </a:endParaRPr>
                    </a:p>
                  </a:txBody>
                  <a:tcPr/>
                </a:tc>
                <a:tc>
                  <a:txBody>
                    <a:bodyPr/>
                    <a:lstStyle/>
                    <a:p>
                      <a:pPr>
                        <a:defRPr/>
                      </a:pPr>
                      <a:r>
                        <a:rPr lang="en-US" sz="1000">
                          <a:latin typeface="Times New Roman" panose="02020603050405020304"/>
                          <a:cs typeface="Times New Roman" panose="02020603050405020304"/>
                        </a:rPr>
                        <a:t>YEAR</a:t>
                      </a:r>
                      <a:endParaRPr lang="en-IN" sz="1000">
                        <a:latin typeface="Times New Roman" panose="02020603050405020304"/>
                        <a:cs typeface="Times New Roman" panose="02020603050405020304"/>
                      </a:endParaRPr>
                    </a:p>
                  </a:txBody>
                  <a:tcPr/>
                </a:tc>
                <a:tc>
                  <a:txBody>
                    <a:bodyPr/>
                    <a:lstStyle/>
                    <a:p>
                      <a:pPr>
                        <a:defRPr/>
                      </a:pPr>
                      <a:r>
                        <a:rPr lang="en-US" sz="1000">
                          <a:latin typeface="Times New Roman" panose="02020603050405020304"/>
                          <a:cs typeface="Times New Roman" panose="02020603050405020304"/>
                        </a:rPr>
                        <a:t>SUMMARY</a:t>
                      </a:r>
                      <a:endParaRPr lang="en-IN" sz="1000">
                        <a:latin typeface="Times New Roman" panose="02020603050405020304"/>
                        <a:cs typeface="Times New Roman" panose="02020603050405020304"/>
                      </a:endParaRPr>
                    </a:p>
                  </a:txBody>
                  <a:tcPr/>
                </a:tc>
                <a:extLst>
                  <a:ext uri="{0D108BD9-81ED-4DB2-BD59-A6C34878D82A}">
                    <a16:rowId xmlns:a16="http://schemas.microsoft.com/office/drawing/2014/main" val="10000"/>
                  </a:ext>
                </a:extLst>
              </a:tr>
              <a:tr h="623108">
                <a:tc>
                  <a:txBody>
                    <a:bodyPr/>
                    <a:lstStyle/>
                    <a:p>
                      <a:pPr>
                        <a:buNone/>
                        <a:defRPr/>
                      </a:pPr>
                      <a:r>
                        <a:rPr lang="en-IN" sz="1000">
                          <a:latin typeface="Times New Roman" panose="02020603050405020304"/>
                          <a:cs typeface="Times New Roman" panose="02020603050405020304"/>
                        </a:rPr>
                        <a:t>1</a:t>
                      </a:r>
                    </a:p>
                  </a:txBody>
                  <a:tcPr anchor="ctr"/>
                </a:tc>
                <a:tc>
                  <a:txBody>
                    <a:bodyPr/>
                    <a:lstStyle/>
                    <a:p>
                      <a:pPr>
                        <a:buNone/>
                        <a:defRPr/>
                      </a:pPr>
                      <a:r>
                        <a:rPr lang="en-US" sz="1200">
                          <a:latin typeface="Times New Roman" panose="02020603050405020304"/>
                          <a:cs typeface="Times New Roman" panose="02020603050405020304"/>
                        </a:rPr>
                        <a:t>Traffic and Pollution Control Using Smart Routing Algorithm</a:t>
                      </a:r>
                    </a:p>
                  </a:txBody>
                  <a:tcPr anchor="ctr"/>
                </a:tc>
                <a:tc>
                  <a:txBody>
                    <a:bodyPr/>
                    <a:lstStyle/>
                    <a:p>
                      <a:pPr>
                        <a:buNone/>
                        <a:defRPr/>
                      </a:pPr>
                      <a:r>
                        <a:rPr lang="en-US" sz="1200">
                          <a:latin typeface="Times New Roman" panose="02020603050405020304"/>
                          <a:cs typeface="Times New Roman" panose="02020603050405020304"/>
                        </a:rPr>
                        <a:t>Shahul Hammed et al.</a:t>
                      </a:r>
                    </a:p>
                  </a:txBody>
                  <a:tcPr anchor="ctr"/>
                </a:tc>
                <a:tc>
                  <a:txBody>
                    <a:bodyPr/>
                    <a:lstStyle/>
                    <a:p>
                      <a:pPr>
                        <a:buNone/>
                        <a:defRPr/>
                      </a:pPr>
                      <a:r>
                        <a:rPr lang="en-IN" sz="1200">
                          <a:latin typeface="Times New Roman" panose="02020603050405020304"/>
                          <a:cs typeface="Times New Roman" panose="02020603050405020304"/>
                        </a:rPr>
                        <a:t>20</a:t>
                      </a:r>
                      <a:r>
                        <a:rPr lang="en-US" sz="1200">
                          <a:latin typeface="Times New Roman" panose="02020603050405020304"/>
                          <a:cs typeface="Times New Roman" panose="02020603050405020304"/>
                        </a:rPr>
                        <a:t>25</a:t>
                      </a:r>
                    </a:p>
                  </a:txBody>
                  <a:tcPr anchor="ctr"/>
                </a:tc>
                <a:tc>
                  <a:txBody>
                    <a:bodyPr/>
                    <a:lstStyle/>
                    <a:p>
                      <a:pPr>
                        <a:buNone/>
                        <a:defRPr/>
                      </a:pPr>
                      <a:r>
                        <a:rPr lang="en-US" sz="1200">
                          <a:latin typeface="Times New Roman" panose="02020603050405020304"/>
                          <a:cs typeface="Times New Roman" panose="02020603050405020304"/>
                        </a:rPr>
                        <a:t>Proposes eco-routing based on traffic and emission levels to reduce pollution.</a:t>
                      </a:r>
                    </a:p>
                  </a:txBody>
                  <a:tcPr anchor="ctr"/>
                </a:tc>
                <a:extLst>
                  <a:ext uri="{0D108BD9-81ED-4DB2-BD59-A6C34878D82A}">
                    <a16:rowId xmlns:a16="http://schemas.microsoft.com/office/drawing/2014/main" val="10001"/>
                  </a:ext>
                </a:extLst>
              </a:tr>
              <a:tr h="653921">
                <a:tc>
                  <a:txBody>
                    <a:bodyPr/>
                    <a:lstStyle/>
                    <a:p>
                      <a:pPr>
                        <a:buNone/>
                        <a:defRPr/>
                      </a:pPr>
                      <a:r>
                        <a:rPr lang="en-IN" sz="1000">
                          <a:latin typeface="Times New Roman" panose="02020603050405020304"/>
                          <a:cs typeface="Times New Roman" panose="02020603050405020304"/>
                        </a:rPr>
                        <a:t>2</a:t>
                      </a:r>
                    </a:p>
                  </a:txBody>
                  <a:tcPr anchor="ctr"/>
                </a:tc>
                <a:tc>
                  <a:txBody>
                    <a:bodyPr/>
                    <a:lstStyle/>
                    <a:p>
                      <a:pPr>
                        <a:buNone/>
                        <a:defRPr/>
                      </a:pPr>
                      <a:r>
                        <a:rPr lang="en-US" sz="1200">
                          <a:latin typeface="Times New Roman" panose="02020603050405020304"/>
                          <a:cs typeface="Times New Roman" panose="02020603050405020304"/>
                        </a:rPr>
                        <a:t>Eco-Routing for Sustainable Urban Mobility</a:t>
                      </a:r>
                    </a:p>
                  </a:txBody>
                  <a:tcPr anchor="ctr"/>
                </a:tc>
                <a:tc>
                  <a:txBody>
                    <a:bodyPr/>
                    <a:lstStyle/>
                    <a:p>
                      <a:pPr>
                        <a:buNone/>
                        <a:defRPr/>
                      </a:pPr>
                      <a:r>
                        <a:rPr lang="en-US" sz="1200">
                          <a:latin typeface="Times New Roman" panose="02020603050405020304"/>
                          <a:cs typeface="Times New Roman" panose="02020603050405020304"/>
                        </a:rPr>
                        <a:t>Kumar &amp; Reddy</a:t>
                      </a:r>
                    </a:p>
                  </a:txBody>
                  <a:tcPr anchor="ctr"/>
                </a:tc>
                <a:tc>
                  <a:txBody>
                    <a:bodyPr/>
                    <a:lstStyle/>
                    <a:p>
                      <a:pPr>
                        <a:buNone/>
                        <a:defRPr/>
                      </a:pPr>
                      <a:r>
                        <a:rPr lang="en-IN" sz="1200">
                          <a:latin typeface="Times New Roman" panose="02020603050405020304"/>
                          <a:cs typeface="Times New Roman" panose="02020603050405020304"/>
                        </a:rPr>
                        <a:t>202</a:t>
                      </a:r>
                      <a:r>
                        <a:rPr lang="en-US" sz="1200">
                          <a:latin typeface="Times New Roman" panose="02020603050405020304"/>
                          <a:cs typeface="Times New Roman" panose="02020603050405020304"/>
                        </a:rPr>
                        <a:t>3</a:t>
                      </a:r>
                    </a:p>
                  </a:txBody>
                  <a:tcPr anchor="ctr"/>
                </a:tc>
                <a:tc>
                  <a:txBody>
                    <a:bodyPr/>
                    <a:lstStyle/>
                    <a:p>
                      <a:pPr>
                        <a:buNone/>
                        <a:defRPr/>
                      </a:pPr>
                      <a:r>
                        <a:rPr lang="en-US" sz="1200">
                          <a:latin typeface="Times New Roman" panose="02020603050405020304"/>
                          <a:cs typeface="Times New Roman" panose="02020603050405020304"/>
                        </a:rPr>
                        <a:t>Focuses on reducing CO₂ emissions through environmentally aware route planning.</a:t>
                      </a:r>
                    </a:p>
                  </a:txBody>
                  <a:tcPr anchor="ctr"/>
                </a:tc>
                <a:extLst>
                  <a:ext uri="{0D108BD9-81ED-4DB2-BD59-A6C34878D82A}">
                    <a16:rowId xmlns:a16="http://schemas.microsoft.com/office/drawing/2014/main" val="10002"/>
                  </a:ext>
                </a:extLst>
              </a:tr>
              <a:tr h="743091">
                <a:tc>
                  <a:txBody>
                    <a:bodyPr/>
                    <a:lstStyle/>
                    <a:p>
                      <a:pPr>
                        <a:buNone/>
                        <a:defRPr/>
                      </a:pPr>
                      <a:r>
                        <a:rPr lang="en-IN" sz="1000">
                          <a:latin typeface="Times New Roman" panose="02020603050405020304"/>
                          <a:cs typeface="Times New Roman" panose="02020603050405020304"/>
                        </a:rPr>
                        <a:t>3</a:t>
                      </a:r>
                    </a:p>
                  </a:txBody>
                  <a:tcPr anchor="ctr"/>
                </a:tc>
                <a:tc>
                  <a:txBody>
                    <a:bodyPr/>
                    <a:lstStyle/>
                    <a:p>
                      <a:pPr>
                        <a:buNone/>
                        <a:defRPr/>
                      </a:pPr>
                      <a:r>
                        <a:rPr lang="en-US" sz="1200">
                          <a:latin typeface="Times New Roman" panose="02020603050405020304"/>
                          <a:cs typeface="Times New Roman" panose="02020603050405020304"/>
                        </a:rPr>
                        <a:t>Smart Traffic Navigation Systems Using Real-Time Data</a:t>
                      </a:r>
                    </a:p>
                  </a:txBody>
                  <a:tcPr anchor="ctr"/>
                </a:tc>
                <a:tc>
                  <a:txBody>
                    <a:bodyPr/>
                    <a:lstStyle/>
                    <a:p>
                      <a:pPr>
                        <a:buNone/>
                        <a:defRPr/>
                      </a:pPr>
                      <a:r>
                        <a:rPr lang="en-US" sz="1200">
                          <a:latin typeface="Times New Roman" panose="02020603050405020304"/>
                          <a:cs typeface="Times New Roman" panose="02020603050405020304"/>
                        </a:rPr>
                        <a:t>Thomas &amp; Mehta</a:t>
                      </a:r>
                    </a:p>
                  </a:txBody>
                  <a:tcPr anchor="ctr"/>
                </a:tc>
                <a:tc>
                  <a:txBody>
                    <a:bodyPr/>
                    <a:lstStyle/>
                    <a:p>
                      <a:pPr>
                        <a:buNone/>
                        <a:defRPr/>
                      </a:pPr>
                      <a:r>
                        <a:rPr lang="en-IN" sz="1200">
                          <a:latin typeface="Times New Roman" panose="02020603050405020304"/>
                          <a:cs typeface="Times New Roman" panose="02020603050405020304"/>
                        </a:rPr>
                        <a:t>20</a:t>
                      </a:r>
                      <a:r>
                        <a:rPr lang="en-US" sz="1200">
                          <a:latin typeface="Times New Roman" panose="02020603050405020304"/>
                          <a:cs typeface="Times New Roman" panose="02020603050405020304"/>
                        </a:rPr>
                        <a:t>22</a:t>
                      </a:r>
                    </a:p>
                  </a:txBody>
                  <a:tcPr anchor="ctr"/>
                </a:tc>
                <a:tc>
                  <a:txBody>
                    <a:bodyPr/>
                    <a:lstStyle/>
                    <a:p>
                      <a:pPr>
                        <a:buNone/>
                        <a:defRPr/>
                      </a:pPr>
                      <a:r>
                        <a:rPr lang="en-US" sz="1200">
                          <a:latin typeface="Times New Roman" panose="02020603050405020304"/>
                          <a:cs typeface="Times New Roman" panose="02020603050405020304"/>
                        </a:rPr>
                        <a:t>Uses live traffic data to improve travel time and reduce congestion.</a:t>
                      </a:r>
                    </a:p>
                  </a:txBody>
                  <a:tcPr anchor="ctr"/>
                </a:tc>
                <a:extLst>
                  <a:ext uri="{0D108BD9-81ED-4DB2-BD59-A6C34878D82A}">
                    <a16:rowId xmlns:a16="http://schemas.microsoft.com/office/drawing/2014/main" val="10003"/>
                  </a:ext>
                </a:extLst>
              </a:tr>
              <a:tr h="653921">
                <a:tc>
                  <a:txBody>
                    <a:bodyPr/>
                    <a:lstStyle/>
                    <a:p>
                      <a:pPr>
                        <a:buNone/>
                        <a:defRPr/>
                      </a:pPr>
                      <a:r>
                        <a:rPr lang="en-IN" sz="1000">
                          <a:latin typeface="Times New Roman" panose="02020603050405020304"/>
                          <a:cs typeface="Times New Roman" panose="02020603050405020304"/>
                        </a:rPr>
                        <a:t>4</a:t>
                      </a:r>
                    </a:p>
                  </a:txBody>
                  <a:tcPr anchor="ctr"/>
                </a:tc>
                <a:tc>
                  <a:txBody>
                    <a:bodyPr/>
                    <a:lstStyle/>
                    <a:p>
                      <a:pPr>
                        <a:buNone/>
                        <a:defRPr/>
                      </a:pPr>
                      <a:r>
                        <a:rPr lang="en-US" sz="1200">
                          <a:latin typeface="Times New Roman" panose="02020603050405020304"/>
                          <a:cs typeface="Times New Roman" panose="02020603050405020304"/>
                        </a:rPr>
                        <a:t>Sustainable Transport with Data-Driven Route Optimization</a:t>
                      </a:r>
                    </a:p>
                  </a:txBody>
                  <a:tcPr anchor="ctr"/>
                </a:tc>
                <a:tc>
                  <a:txBody>
                    <a:bodyPr/>
                    <a:lstStyle/>
                    <a:p>
                      <a:pPr>
                        <a:buNone/>
                        <a:defRPr/>
                      </a:pPr>
                      <a:r>
                        <a:rPr lang="en-US" sz="1200">
                          <a:latin typeface="Times New Roman" panose="02020603050405020304"/>
                          <a:cs typeface="Times New Roman" panose="02020603050405020304"/>
                        </a:rPr>
                        <a:t>Sharma et al.</a:t>
                      </a:r>
                    </a:p>
                  </a:txBody>
                  <a:tcPr anchor="ctr"/>
                </a:tc>
                <a:tc>
                  <a:txBody>
                    <a:bodyPr/>
                    <a:lstStyle/>
                    <a:p>
                      <a:pPr>
                        <a:buNone/>
                        <a:defRPr/>
                      </a:pPr>
                      <a:r>
                        <a:rPr lang="en-IN" sz="1200">
                          <a:latin typeface="Times New Roman" panose="02020603050405020304"/>
                          <a:cs typeface="Times New Roman" panose="02020603050405020304"/>
                        </a:rPr>
                        <a:t>20</a:t>
                      </a:r>
                      <a:r>
                        <a:rPr lang="en-US" sz="1200">
                          <a:latin typeface="Times New Roman" panose="02020603050405020304"/>
                          <a:cs typeface="Times New Roman" panose="02020603050405020304"/>
                        </a:rPr>
                        <a:t>21</a:t>
                      </a:r>
                    </a:p>
                  </a:txBody>
                  <a:tcPr anchor="ctr"/>
                </a:tc>
                <a:tc>
                  <a:txBody>
                    <a:bodyPr/>
                    <a:lstStyle/>
                    <a:p>
                      <a:pPr>
                        <a:buNone/>
                        <a:defRPr/>
                      </a:pPr>
                      <a:r>
                        <a:rPr lang="en-US" sz="1200">
                          <a:latin typeface="Times New Roman" panose="02020603050405020304"/>
                          <a:cs typeface="Times New Roman" panose="02020603050405020304"/>
                        </a:rPr>
                        <a:t>Highlights the importance of dynamic data for eco-friendly urban routing.</a:t>
                      </a:r>
                    </a:p>
                  </a:txBody>
                  <a:tcPr anchor="ctr"/>
                </a:tc>
                <a:extLst>
                  <a:ext uri="{0D108BD9-81ED-4DB2-BD59-A6C34878D82A}">
                    <a16:rowId xmlns:a16="http://schemas.microsoft.com/office/drawing/2014/main" val="10004"/>
                  </a:ext>
                </a:extLst>
              </a:tr>
              <a:tr h="653921">
                <a:tc>
                  <a:txBody>
                    <a:bodyPr/>
                    <a:lstStyle/>
                    <a:p>
                      <a:pPr>
                        <a:buNone/>
                        <a:defRPr/>
                      </a:pPr>
                      <a:r>
                        <a:rPr lang="en-IN" sz="1000">
                          <a:latin typeface="Times New Roman" panose="02020603050405020304"/>
                          <a:cs typeface="Times New Roman" panose="02020603050405020304"/>
                        </a:rPr>
                        <a:t>5</a:t>
                      </a:r>
                    </a:p>
                  </a:txBody>
                  <a:tcPr anchor="ctr"/>
                </a:tc>
                <a:tc>
                  <a:txBody>
                    <a:bodyPr/>
                    <a:lstStyle/>
                    <a:p>
                      <a:pPr>
                        <a:buNone/>
                        <a:defRPr/>
                      </a:pPr>
                      <a:r>
                        <a:rPr lang="en-US" sz="1200">
                          <a:latin typeface="Times New Roman" panose="02020603050405020304"/>
                          <a:cs typeface="Times New Roman" panose="02020603050405020304"/>
                        </a:rPr>
                        <a:t>Environmental Impact-Based Navigation Systems for Urban Areas</a:t>
                      </a:r>
                    </a:p>
                  </a:txBody>
                  <a:tcPr anchor="ctr"/>
                </a:tc>
                <a:tc>
                  <a:txBody>
                    <a:bodyPr/>
                    <a:lstStyle/>
                    <a:p>
                      <a:pPr>
                        <a:buNone/>
                        <a:defRPr/>
                      </a:pPr>
                      <a:r>
                        <a:rPr lang="en-US" sz="1200">
                          <a:latin typeface="Times New Roman" panose="02020603050405020304"/>
                          <a:cs typeface="Times New Roman" panose="02020603050405020304"/>
                        </a:rPr>
                        <a:t>Patel &amp; Chauhan</a:t>
                      </a:r>
                    </a:p>
                  </a:txBody>
                  <a:tcPr anchor="ctr"/>
                </a:tc>
                <a:tc>
                  <a:txBody>
                    <a:bodyPr/>
                    <a:lstStyle/>
                    <a:p>
                      <a:pPr>
                        <a:buNone/>
                        <a:defRPr/>
                      </a:pPr>
                      <a:r>
                        <a:rPr lang="en-IN" sz="1200">
                          <a:latin typeface="Times New Roman" panose="02020603050405020304"/>
                          <a:cs typeface="Times New Roman" panose="02020603050405020304"/>
                        </a:rPr>
                        <a:t>202</a:t>
                      </a:r>
                      <a:r>
                        <a:rPr lang="en-US" sz="1200">
                          <a:latin typeface="Times New Roman" panose="02020603050405020304"/>
                          <a:cs typeface="Times New Roman" panose="02020603050405020304"/>
                        </a:rPr>
                        <a:t>0</a:t>
                      </a:r>
                    </a:p>
                  </a:txBody>
                  <a:tcPr anchor="ctr"/>
                </a:tc>
                <a:tc>
                  <a:txBody>
                    <a:bodyPr/>
                    <a:lstStyle/>
                    <a:p>
                      <a:pPr>
                        <a:buNone/>
                        <a:defRPr/>
                      </a:pPr>
                      <a:r>
                        <a:rPr lang="en-US" sz="1200">
                          <a:latin typeface="Times New Roman" panose="02020603050405020304"/>
                          <a:cs typeface="Times New Roman" panose="02020603050405020304"/>
                        </a:rPr>
                        <a:t>Recommends route suggestions based on air quality and noise pollution levels.</a:t>
                      </a:r>
                    </a:p>
                  </a:txBody>
                  <a:tcPr anchor="ctr"/>
                </a:tc>
                <a:extLst>
                  <a:ext uri="{0D108BD9-81ED-4DB2-BD59-A6C34878D82A}">
                    <a16:rowId xmlns:a16="http://schemas.microsoft.com/office/drawing/2014/main" val="10005"/>
                  </a:ext>
                </a:extLst>
              </a:tr>
              <a:tr h="743091">
                <a:tc>
                  <a:txBody>
                    <a:bodyPr/>
                    <a:lstStyle/>
                    <a:p>
                      <a:pPr>
                        <a:buNone/>
                        <a:defRPr/>
                      </a:pPr>
                      <a:r>
                        <a:rPr lang="en-IN" sz="1000">
                          <a:latin typeface="Times New Roman" panose="02020603050405020304"/>
                          <a:cs typeface="Times New Roman" panose="02020603050405020304"/>
                        </a:rPr>
                        <a:t>6</a:t>
                      </a:r>
                    </a:p>
                  </a:txBody>
                  <a:tcPr anchor="ctr"/>
                </a:tc>
                <a:tc>
                  <a:txBody>
                    <a:bodyPr/>
                    <a:lstStyle/>
                    <a:p>
                      <a:pPr>
                        <a:buNone/>
                        <a:defRPr/>
                      </a:pPr>
                      <a:r>
                        <a:rPr lang="en-US" sz="1200">
                          <a:latin typeface="Times New Roman" panose="02020603050405020304"/>
                          <a:cs typeface="Times New Roman" panose="02020603050405020304"/>
                        </a:rPr>
                        <a:t>Green Mobility and SDG 11: Smart Routing Applications</a:t>
                      </a:r>
                    </a:p>
                  </a:txBody>
                  <a:tcPr anchor="ctr"/>
                </a:tc>
                <a:tc>
                  <a:txBody>
                    <a:bodyPr/>
                    <a:lstStyle/>
                    <a:p>
                      <a:pPr>
                        <a:buNone/>
                        <a:defRPr/>
                      </a:pPr>
                      <a:r>
                        <a:rPr lang="en-US" sz="1200">
                          <a:latin typeface="Times New Roman" panose="02020603050405020304"/>
                          <a:cs typeface="Times New Roman" panose="02020603050405020304"/>
                        </a:rPr>
                        <a:t>Saito &amp; Semba</a:t>
                      </a:r>
                    </a:p>
                  </a:txBody>
                  <a:tcPr anchor="ctr"/>
                </a:tc>
                <a:tc>
                  <a:txBody>
                    <a:bodyPr/>
                    <a:lstStyle/>
                    <a:p>
                      <a:pPr>
                        <a:buNone/>
                        <a:defRPr/>
                      </a:pPr>
                      <a:r>
                        <a:rPr lang="en-IN" sz="1200">
                          <a:latin typeface="Times New Roman" panose="02020603050405020304"/>
                          <a:cs typeface="Times New Roman" panose="02020603050405020304"/>
                        </a:rPr>
                        <a:t>202</a:t>
                      </a:r>
                      <a:r>
                        <a:rPr lang="en-US" sz="1200">
                          <a:latin typeface="Times New Roman" panose="02020603050405020304"/>
                          <a:cs typeface="Times New Roman" panose="02020603050405020304"/>
                        </a:rPr>
                        <a:t>2</a:t>
                      </a:r>
                    </a:p>
                  </a:txBody>
                  <a:tcPr anchor="ctr"/>
                </a:tc>
                <a:tc>
                  <a:txBody>
                    <a:bodyPr/>
                    <a:lstStyle/>
                    <a:p>
                      <a:pPr>
                        <a:buNone/>
                        <a:defRPr/>
                      </a:pPr>
                      <a:r>
                        <a:rPr lang="en-US" sz="1200">
                          <a:latin typeface="Times New Roman" panose="02020603050405020304"/>
                          <a:cs typeface="Times New Roman" panose="02020603050405020304"/>
                        </a:rPr>
                        <a:t>Connects sustainable routing approaches to global urban development goals.</a:t>
                      </a:r>
                    </a:p>
                  </a:txBody>
                  <a:tcPr anchor="ctr"/>
                </a:tc>
                <a:extLst>
                  <a:ext uri="{0D108BD9-81ED-4DB2-BD59-A6C34878D82A}">
                    <a16:rowId xmlns:a16="http://schemas.microsoft.com/office/drawing/2014/main" val="10006"/>
                  </a:ext>
                </a:extLst>
              </a:tr>
              <a:tr h="564750">
                <a:tc>
                  <a:txBody>
                    <a:bodyPr/>
                    <a:lstStyle/>
                    <a:p>
                      <a:pPr>
                        <a:buNone/>
                        <a:defRPr/>
                      </a:pPr>
                      <a:r>
                        <a:rPr lang="en-IN" sz="1000">
                          <a:latin typeface="Times New Roman" panose="02020603050405020304"/>
                          <a:cs typeface="Times New Roman" panose="02020603050405020304"/>
                        </a:rPr>
                        <a:t>7</a:t>
                      </a:r>
                    </a:p>
                  </a:txBody>
                  <a:tcPr anchor="ctr"/>
                </a:tc>
                <a:tc>
                  <a:txBody>
                    <a:bodyPr/>
                    <a:lstStyle/>
                    <a:p>
                      <a:pPr>
                        <a:buNone/>
                        <a:defRPr/>
                      </a:pPr>
                      <a:r>
                        <a:rPr lang="en-US" sz="1200">
                          <a:latin typeface="Times New Roman" panose="02020603050405020304"/>
                          <a:cs typeface="Times New Roman" panose="02020603050405020304"/>
                        </a:rPr>
                        <a:t>A Study on Smart Urban Mobility Using Environmental Sensors</a:t>
                      </a:r>
                    </a:p>
                  </a:txBody>
                  <a:tcPr anchor="ctr"/>
                </a:tc>
                <a:tc>
                  <a:txBody>
                    <a:bodyPr/>
                    <a:lstStyle/>
                    <a:p>
                      <a:pPr>
                        <a:buNone/>
                        <a:defRPr/>
                      </a:pPr>
                      <a:r>
                        <a:rPr lang="en-US" sz="1200">
                          <a:latin typeface="Times New Roman" panose="02020603050405020304"/>
                          <a:cs typeface="Times New Roman" panose="02020603050405020304"/>
                        </a:rPr>
                        <a:t>Roy et al.</a:t>
                      </a:r>
                    </a:p>
                  </a:txBody>
                  <a:tcPr anchor="ctr"/>
                </a:tc>
                <a:tc>
                  <a:txBody>
                    <a:bodyPr/>
                    <a:lstStyle/>
                    <a:p>
                      <a:pPr>
                        <a:buNone/>
                        <a:defRPr/>
                      </a:pPr>
                      <a:r>
                        <a:rPr lang="en-IN" sz="1200">
                          <a:latin typeface="Times New Roman" panose="02020603050405020304"/>
                          <a:cs typeface="Times New Roman" panose="02020603050405020304"/>
                        </a:rPr>
                        <a:t>202</a:t>
                      </a:r>
                      <a:r>
                        <a:rPr lang="en-US" sz="1200">
                          <a:latin typeface="Times New Roman" panose="02020603050405020304"/>
                          <a:cs typeface="Times New Roman" panose="02020603050405020304"/>
                        </a:rPr>
                        <a:t>1</a:t>
                      </a:r>
                    </a:p>
                  </a:txBody>
                  <a:tcPr anchor="ctr"/>
                </a:tc>
                <a:tc>
                  <a:txBody>
                    <a:bodyPr/>
                    <a:lstStyle/>
                    <a:p>
                      <a:pPr>
                        <a:buNone/>
                        <a:defRPr/>
                      </a:pPr>
                      <a:r>
                        <a:rPr lang="en-US" sz="1200">
                          <a:latin typeface="Times New Roman" panose="02020603050405020304"/>
                          <a:cs typeface="Times New Roman" panose="02020603050405020304"/>
                        </a:rPr>
                        <a:t>Discusses integration of pollution sensors in traffic systems for routing.</a:t>
                      </a:r>
                    </a:p>
                  </a:txBody>
                  <a:tcPr anchor="ctr"/>
                </a:tc>
                <a:extLst>
                  <a:ext uri="{0D108BD9-81ED-4DB2-BD59-A6C34878D82A}">
                    <a16:rowId xmlns:a16="http://schemas.microsoft.com/office/drawing/2014/main" val="10007"/>
                  </a:ext>
                </a:extLst>
              </a:tr>
              <a:tr h="653921">
                <a:tc>
                  <a:txBody>
                    <a:bodyPr/>
                    <a:lstStyle/>
                    <a:p>
                      <a:pPr>
                        <a:buNone/>
                        <a:defRPr/>
                      </a:pPr>
                      <a:r>
                        <a:rPr lang="en-IN" sz="1000">
                          <a:latin typeface="Times New Roman" panose="02020603050405020304"/>
                          <a:cs typeface="Times New Roman" panose="02020603050405020304"/>
                        </a:rPr>
                        <a:t>8</a:t>
                      </a:r>
                    </a:p>
                  </a:txBody>
                  <a:tcPr anchor="ctr"/>
                </a:tc>
                <a:tc>
                  <a:txBody>
                    <a:bodyPr/>
                    <a:lstStyle/>
                    <a:p>
                      <a:pPr>
                        <a:defRPr/>
                      </a:pPr>
                      <a:r>
                        <a:rPr sz="1200"/>
                        <a:t>Route Optimization Techniques for Emission Reduction in Smart Cities</a:t>
                      </a:r>
                    </a:p>
                  </a:txBody>
                  <a:tcPr marL="0" marR="0" marT="0" marB="0" anchor="ctr"/>
                </a:tc>
                <a:tc>
                  <a:txBody>
                    <a:bodyPr/>
                    <a:lstStyle/>
                    <a:p>
                      <a:pPr>
                        <a:buNone/>
                        <a:defRPr/>
                      </a:pPr>
                      <a:r>
                        <a:rPr lang="en-US" sz="1200">
                          <a:latin typeface="Times New Roman" panose="02020603050405020304"/>
                          <a:cs typeface="Times New Roman" panose="02020603050405020304"/>
                        </a:rPr>
                        <a:t>Tiwari &amp; Nanda</a:t>
                      </a:r>
                    </a:p>
                  </a:txBody>
                  <a:tcPr anchor="ctr"/>
                </a:tc>
                <a:tc>
                  <a:txBody>
                    <a:bodyPr/>
                    <a:lstStyle/>
                    <a:p>
                      <a:pPr>
                        <a:buNone/>
                        <a:defRPr/>
                      </a:pPr>
                      <a:r>
                        <a:rPr lang="en-IN" sz="1200">
                          <a:latin typeface="Times New Roman" panose="02020603050405020304"/>
                          <a:cs typeface="Times New Roman" panose="02020603050405020304"/>
                        </a:rPr>
                        <a:t>202</a:t>
                      </a:r>
                      <a:r>
                        <a:rPr lang="en-US" sz="1200">
                          <a:latin typeface="Times New Roman" panose="02020603050405020304"/>
                          <a:cs typeface="Times New Roman" panose="02020603050405020304"/>
                        </a:rPr>
                        <a:t>3</a:t>
                      </a:r>
                    </a:p>
                  </a:txBody>
                  <a:tcPr anchor="ctr"/>
                </a:tc>
                <a:tc>
                  <a:txBody>
                    <a:bodyPr/>
                    <a:lstStyle/>
                    <a:p>
                      <a:pPr>
                        <a:buNone/>
                        <a:defRPr/>
                      </a:pPr>
                      <a:r>
                        <a:rPr lang="en-US" sz="1200">
                          <a:latin typeface="Times New Roman" panose="02020603050405020304"/>
                          <a:cs typeface="Times New Roman" panose="02020603050405020304"/>
                        </a:rPr>
                        <a:t>Describes algorithms for selecting routes that lower fuel use and emissions.</a:t>
                      </a:r>
                    </a:p>
                  </a:txBody>
                  <a:tcPr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294320535" name="Picture 2" descr="https://spechyd.ac.in/wp-content/uploads/2022/06/Logo1.png"/>
          <p:cNvPicPr>
            <a:picLocks noChangeAspect="1" noChangeArrowheads="1"/>
          </p:cNvPicPr>
          <p:nvPr/>
        </p:nvPicPr>
        <p:blipFill>
          <a:blip r:embed="rId3"/>
          <a:stretch>
            <a:fillRect/>
          </a:stretch>
        </p:blipFill>
        <p:spPr bwMode="auto">
          <a:xfrm>
            <a:off x="-30480" y="2"/>
            <a:ext cx="1758786" cy="1295398"/>
          </a:xfrm>
          <a:prstGeom prst="rect">
            <a:avLst/>
          </a:prstGeom>
          <a:noFill/>
        </p:spPr>
      </p:pic>
      <p:sp>
        <p:nvSpPr>
          <p:cNvPr id="2014612082" name="Title 1"/>
          <p:cNvSpPr>
            <a:spLocks noGrp="1"/>
          </p:cNvSpPr>
          <p:nvPr>
            <p:ph type="title"/>
          </p:nvPr>
        </p:nvSpPr>
        <p:spPr bwMode="auto">
          <a:xfrm>
            <a:off x="3927884" y="477520"/>
            <a:ext cx="3757009" cy="685800"/>
          </a:xfrm>
        </p:spPr>
        <p:txBody>
          <a:bodyPr>
            <a:normAutofit/>
          </a:bodyPr>
          <a:lstStyle/>
          <a:p>
            <a:pPr>
              <a:defRPr/>
            </a:pPr>
            <a:r>
              <a:rPr lang="en-IN" sz="2000" b="1">
                <a:solidFill>
                  <a:schemeClr val="accent5">
                    <a:lumMod val="75000"/>
                  </a:schemeClr>
                </a:solidFill>
                <a:latin typeface="Times New Roman" panose="02020603050405020304"/>
                <a:cs typeface="Times New Roman" panose="02020603050405020304"/>
              </a:rPr>
              <a:t>GAPS IDENTIFIED</a:t>
            </a:r>
            <a:endParaRPr lang="en-IN" sz="2000">
              <a:solidFill>
                <a:schemeClr val="accent5">
                  <a:lumMod val="75000"/>
                </a:schemeClr>
              </a:solidFill>
              <a:latin typeface="Times New Roman" panose="02020603050405020304"/>
              <a:cs typeface="Times New Roman" panose="02020603050405020304"/>
            </a:endParaRPr>
          </a:p>
        </p:txBody>
      </p:sp>
      <p:sp>
        <p:nvSpPr>
          <p:cNvPr id="505915100" name="TextBox 10"/>
          <p:cNvSpPr txBox="1"/>
          <p:nvPr/>
        </p:nvSpPr>
        <p:spPr bwMode="auto">
          <a:xfrm>
            <a:off x="770890" y="1485900"/>
            <a:ext cx="8798560" cy="4669790"/>
          </a:xfrm>
          <a:prstGeom prst="rect">
            <a:avLst/>
          </a:prstGeom>
          <a:noFill/>
        </p:spPr>
        <p:txBody>
          <a:bodyPr wrap="square">
            <a:noAutofit/>
          </a:bodyPr>
          <a:lstStyle/>
          <a:p>
            <a:pPr marL="285750" indent="-285750" algn="just">
              <a:lnSpc>
                <a:spcPct val="115000"/>
              </a:lnSpc>
              <a:buFont typeface="Arial" panose="020B0604020202020204"/>
              <a:buChar char="•"/>
              <a:defRPr/>
            </a:pPr>
            <a:r>
              <a:rPr lang="en-US">
                <a:latin typeface="Times New Roman" panose="02020603050405020304"/>
                <a:cs typeface="Times New Roman" panose="02020603050405020304"/>
              </a:rPr>
              <a:t>Most existing navigation systems focus only on shortest or fastest routes, not on environmental impact.</a:t>
            </a:r>
          </a:p>
          <a:p>
            <a:pPr marL="285750" indent="-285750" algn="just">
              <a:lnSpc>
                <a:spcPct val="115000"/>
              </a:lnSpc>
              <a:buFont typeface="Arial" panose="020B0604020202020204"/>
              <a:buChar char="•"/>
              <a:defRPr/>
            </a:pPr>
            <a:r>
              <a:rPr lang="en-US">
                <a:latin typeface="Times New Roman" panose="02020603050405020304"/>
                <a:cs typeface="Times New Roman" panose="02020603050405020304"/>
              </a:rPr>
              <a:t>Lack of integration between real-time traffic data and pollution/emission levels in current routing applications.</a:t>
            </a:r>
          </a:p>
          <a:p>
            <a:pPr marL="285750" indent="-285750" algn="just">
              <a:lnSpc>
                <a:spcPct val="115000"/>
              </a:lnSpc>
              <a:buFont typeface="Arial" panose="020B0604020202020204"/>
              <a:buChar char="•"/>
              <a:defRPr/>
            </a:pPr>
            <a:r>
              <a:rPr lang="en-US">
                <a:latin typeface="Times New Roman" panose="02020603050405020304"/>
                <a:cs typeface="Times New Roman" panose="02020603050405020304"/>
              </a:rPr>
              <a:t>Minimal efforts made to suggest routes that prioritize fuel efficiency and reduced emissions</a:t>
            </a:r>
          </a:p>
          <a:p>
            <a:pPr marL="285750" indent="-285750" algn="just">
              <a:lnSpc>
                <a:spcPct val="115000"/>
              </a:lnSpc>
              <a:buFont typeface="Arial" panose="020B0604020202020204"/>
              <a:buChar char="•"/>
              <a:defRPr/>
            </a:pPr>
            <a:r>
              <a:rPr lang="en-US">
                <a:latin typeface="Times New Roman" panose="02020603050405020304"/>
                <a:cs typeface="Times New Roman" panose="02020603050405020304"/>
              </a:rPr>
              <a:t>Limited personalization for users who prefer eco-friendly or low-pollution travel options.</a:t>
            </a:r>
          </a:p>
          <a:p>
            <a:pPr marL="285750" indent="-285750" algn="just">
              <a:lnSpc>
                <a:spcPct val="115000"/>
              </a:lnSpc>
              <a:buFont typeface="Arial" panose="020B0604020202020204"/>
              <a:buChar char="•"/>
              <a:defRPr/>
            </a:pPr>
            <a:r>
              <a:rPr lang="en-US">
                <a:latin typeface="Times New Roman" panose="02020603050405020304"/>
                <a:cs typeface="Times New Roman" panose="02020603050405020304"/>
              </a:rPr>
              <a:t>Existing systems do not contribute directly to Sustainable Development Goals like SDG 11.</a:t>
            </a:r>
          </a:p>
          <a:p>
            <a:pPr marL="285750" indent="-285750" algn="just">
              <a:lnSpc>
                <a:spcPct val="115000"/>
              </a:lnSpc>
              <a:buFont typeface="Arial" panose="020B0604020202020204"/>
              <a:buChar char="•"/>
              <a:defRPr/>
            </a:pPr>
            <a:r>
              <a:rPr lang="en-US">
                <a:latin typeface="Times New Roman" panose="02020603050405020304"/>
                <a:cs typeface="Times New Roman" panose="02020603050405020304"/>
              </a:rPr>
              <a:t>Absence of smart feedback or learning mechanisms to improve routing decisions over time.</a:t>
            </a:r>
          </a:p>
          <a:p>
            <a:pPr marL="285750" indent="-285750" algn="just">
              <a:lnSpc>
                <a:spcPct val="115000"/>
              </a:lnSpc>
              <a:buFont typeface="Arial" panose="020B0604020202020204"/>
              <a:buChar char="•"/>
              <a:defRPr/>
            </a:pPr>
            <a:r>
              <a:rPr lang="en-US">
                <a:latin typeface="Times New Roman" panose="02020603050405020304"/>
                <a:cs typeface="Times New Roman" panose="02020603050405020304"/>
              </a:rPr>
              <a:t>Need for affordable, real-time, and scalable solutions that cities can implement in their traffic systems.</a:t>
            </a:r>
          </a:p>
          <a:p>
            <a:pPr marL="285750" indent="-285750" algn="just">
              <a:lnSpc>
                <a:spcPct val="115000"/>
              </a:lnSpc>
              <a:buFont typeface="Arial" panose="020B0604020202020204"/>
              <a:buChar char="•"/>
              <a:defRPr/>
            </a:pPr>
            <a:endParaRPr lang="en-US">
              <a:latin typeface="Times New Roman" panose="02020603050405020304"/>
              <a:cs typeface="Times New Roman" panose="02020603050405020304"/>
            </a:endParaRPr>
          </a:p>
          <a:p>
            <a:pPr marL="285750" indent="-285750" algn="just">
              <a:lnSpc>
                <a:spcPct val="115000"/>
              </a:lnSpc>
              <a:buFont typeface="Arial" panose="020B0604020202020204"/>
              <a:buChar char="•"/>
              <a:defRPr/>
            </a:pPr>
            <a:endParaRPr lang="en-US">
              <a:latin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14888076" name="Title 1"/>
          <p:cNvSpPr>
            <a:spLocks noGrp="1"/>
          </p:cNvSpPr>
          <p:nvPr>
            <p:ph type="title"/>
          </p:nvPr>
        </p:nvSpPr>
        <p:spPr bwMode="auto">
          <a:xfrm>
            <a:off x="3261360" y="523822"/>
            <a:ext cx="5222240" cy="629920"/>
          </a:xfrm>
        </p:spPr>
        <p:txBody>
          <a:bodyPr>
            <a:normAutofit/>
          </a:bodyPr>
          <a:lstStyle/>
          <a:p>
            <a:pPr>
              <a:defRPr/>
            </a:pPr>
            <a:r>
              <a:rPr lang="en-US" sz="2000" b="1">
                <a:solidFill>
                  <a:schemeClr val="accent5">
                    <a:lumMod val="75000"/>
                  </a:schemeClr>
                </a:solidFill>
                <a:latin typeface="Times New Roman" panose="02020603050405020304"/>
                <a:cs typeface="Times New Roman" panose="02020603050405020304"/>
              </a:rPr>
              <a:t>P</a:t>
            </a:r>
            <a:r>
              <a:rPr lang="en-IN" sz="2000" b="1">
                <a:solidFill>
                  <a:schemeClr val="accent5">
                    <a:lumMod val="75000"/>
                  </a:schemeClr>
                </a:solidFill>
                <a:latin typeface="Times New Roman" panose="02020603050405020304"/>
                <a:cs typeface="Times New Roman" panose="02020603050405020304"/>
              </a:rPr>
              <a:t>ROJECT OBJECTIVES</a:t>
            </a:r>
            <a:endParaRPr lang="en-IN" sz="2000"/>
          </a:p>
        </p:txBody>
      </p:sp>
      <p:sp>
        <p:nvSpPr>
          <p:cNvPr id="1339788270" name="TextBox 3"/>
          <p:cNvSpPr txBox="1"/>
          <p:nvPr/>
        </p:nvSpPr>
        <p:spPr bwMode="auto">
          <a:xfrm>
            <a:off x="1107440" y="1823720"/>
            <a:ext cx="8365490" cy="3790315"/>
          </a:xfrm>
          <a:prstGeom prst="rect">
            <a:avLst/>
          </a:prstGeom>
          <a:noFill/>
        </p:spPr>
        <p:txBody>
          <a:bodyPr wrap="square">
            <a:noAutofit/>
          </a:bodyPr>
          <a:lstStyle/>
          <a:p>
            <a:pPr algn="just">
              <a:lnSpc>
                <a:spcPct val="150000"/>
              </a:lnSpc>
              <a:buFont typeface="Arial" panose="020B0604020202020204"/>
              <a:buChar char="•"/>
              <a:defRPr/>
            </a:pPr>
            <a:r>
              <a:rPr lang="en-US">
                <a:latin typeface="Times New Roman" panose="02020603050405020304"/>
                <a:cs typeface="Times New Roman" panose="02020603050405020304"/>
              </a:rPr>
              <a:t>To design a smart routing system that reduces urban traffic congestion and air pollution.</a:t>
            </a:r>
          </a:p>
          <a:p>
            <a:pPr algn="just">
              <a:lnSpc>
                <a:spcPct val="150000"/>
              </a:lnSpc>
              <a:buFont typeface="Arial" panose="020B0604020202020204"/>
              <a:buChar char="•"/>
              <a:defRPr/>
            </a:pPr>
            <a:r>
              <a:rPr lang="en-US">
                <a:latin typeface="Times New Roman" panose="02020603050405020304"/>
                <a:cs typeface="Times New Roman" panose="02020603050405020304"/>
              </a:rPr>
              <a:t>To develop an eco-routing algorithm that suggests the most environmentally friendly path.</a:t>
            </a:r>
          </a:p>
          <a:p>
            <a:pPr algn="just">
              <a:lnSpc>
                <a:spcPct val="150000"/>
              </a:lnSpc>
              <a:buFont typeface="Arial" panose="020B0604020202020204"/>
              <a:buChar char="•"/>
              <a:defRPr/>
            </a:pPr>
            <a:r>
              <a:rPr lang="en-US">
                <a:latin typeface="Times New Roman" panose="02020603050405020304"/>
                <a:cs typeface="Times New Roman" panose="02020603050405020304"/>
              </a:rPr>
              <a:t>To utilize real-time traffic and environmental data for dynamic route selection.</a:t>
            </a:r>
          </a:p>
          <a:p>
            <a:pPr algn="just">
              <a:lnSpc>
                <a:spcPct val="150000"/>
              </a:lnSpc>
              <a:buFont typeface="Arial" panose="020B0604020202020204"/>
              <a:buChar char="•"/>
              <a:defRPr/>
            </a:pPr>
            <a:r>
              <a:rPr lang="en-US">
                <a:latin typeface="Times New Roman" panose="02020603050405020304"/>
                <a:cs typeface="Times New Roman" panose="02020603050405020304"/>
              </a:rPr>
              <a:t>To promote fuel-efficient and time-saving travel for urban commuters.</a:t>
            </a:r>
          </a:p>
          <a:p>
            <a:pPr algn="just">
              <a:lnSpc>
                <a:spcPct val="150000"/>
              </a:lnSpc>
              <a:buFont typeface="Arial" panose="020B0604020202020204"/>
              <a:buChar char="•"/>
              <a:defRPr/>
            </a:pPr>
            <a:r>
              <a:rPr lang="en-US">
                <a:latin typeface="Times New Roman" panose="02020603050405020304"/>
                <a:cs typeface="Times New Roman" panose="02020603050405020304"/>
              </a:rPr>
              <a:t>To support sustainable transportation and contribute to SDG 11 – Sustainable Cities and Communities.</a:t>
            </a:r>
          </a:p>
          <a:p>
            <a:pPr algn="just">
              <a:lnSpc>
                <a:spcPct val="150000"/>
              </a:lnSpc>
              <a:buFont typeface="Arial" panose="020B0604020202020204"/>
              <a:buChar char="•"/>
              <a:defRPr/>
            </a:pPr>
            <a:r>
              <a:rPr lang="en-US">
                <a:latin typeface="Times New Roman" panose="02020603050405020304"/>
                <a:cs typeface="Times New Roman" panose="02020603050405020304"/>
              </a:rPr>
              <a:t>To improve overall travel experience while reducing carbon emissions and health risks.</a:t>
            </a:r>
          </a:p>
          <a:p>
            <a:pPr algn="just">
              <a:lnSpc>
                <a:spcPct val="150000"/>
              </a:lnSpc>
              <a:buFont typeface="Arial" panose="020B0604020202020204"/>
              <a:buChar char="•"/>
              <a:defRPr/>
            </a:pPr>
            <a:r>
              <a:rPr lang="en-US">
                <a:latin typeface="Times New Roman" panose="02020603050405020304"/>
                <a:cs typeface="Times New Roman" panose="02020603050405020304"/>
              </a:rPr>
              <a:t>To demonstrate the effectiveness of green routing through simulations or prototype models..</a:t>
            </a:r>
          </a:p>
        </p:txBody>
      </p:sp>
      <p:pic>
        <p:nvPicPr>
          <p:cNvPr id="1328144772" name="Picture 2" descr="https://spechyd.ac.in/wp-content/uploads/2022/06/Logo1.png"/>
          <p:cNvPicPr>
            <a:picLocks noChangeAspect="1" noChangeArrowheads="1"/>
          </p:cNvPicPr>
          <p:nvPr/>
        </p:nvPicPr>
        <p:blipFill>
          <a:blip r:embed="rId3"/>
          <a:stretch>
            <a:fillRect/>
          </a:stretch>
        </p:blipFill>
        <p:spPr bwMode="auto">
          <a:xfrm>
            <a:off x="-30480" y="2"/>
            <a:ext cx="1422400" cy="104764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44954853" name="Title 1"/>
          <p:cNvSpPr>
            <a:spLocks noGrp="1"/>
          </p:cNvSpPr>
          <p:nvPr>
            <p:ph type="title"/>
          </p:nvPr>
        </p:nvSpPr>
        <p:spPr bwMode="auto">
          <a:xfrm>
            <a:off x="1826683" y="609600"/>
            <a:ext cx="6008370" cy="640080"/>
          </a:xfrm>
        </p:spPr>
        <p:txBody>
          <a:bodyPr>
            <a:normAutofit/>
          </a:bodyPr>
          <a:lstStyle/>
          <a:p>
            <a:pPr>
              <a:defRPr/>
            </a:pPr>
            <a:r>
              <a:rPr lang="en-US" sz="2000" b="1">
                <a:solidFill>
                  <a:schemeClr val="accent5">
                    <a:lumMod val="75000"/>
                  </a:schemeClr>
                </a:solidFill>
                <a:latin typeface="Times New Roman" panose="02020603050405020304"/>
                <a:cs typeface="Times New Roman" panose="02020603050405020304"/>
              </a:rPr>
              <a:t>BLOCK DIAGRAM OF THE EXISTING SYSTEM</a:t>
            </a:r>
            <a:endParaRPr lang="en-IN" sz="2000"/>
          </a:p>
        </p:txBody>
      </p:sp>
      <p:pic>
        <p:nvPicPr>
          <p:cNvPr id="1393249616" name="Picture 2" descr="https://spechyd.ac.in/wp-content/uploads/2022/06/Logo1.png"/>
          <p:cNvPicPr>
            <a:picLocks noChangeAspect="1" noChangeArrowheads="1"/>
          </p:cNvPicPr>
          <p:nvPr/>
        </p:nvPicPr>
        <p:blipFill>
          <a:blip r:embed="rId3"/>
          <a:stretch>
            <a:fillRect/>
          </a:stretch>
        </p:blipFill>
        <p:spPr bwMode="auto">
          <a:xfrm>
            <a:off x="-30480" y="2"/>
            <a:ext cx="1422400" cy="1047640"/>
          </a:xfrm>
          <a:prstGeom prst="rect">
            <a:avLst/>
          </a:prstGeom>
          <a:noFill/>
        </p:spPr>
      </p:pic>
      <p:sp>
        <p:nvSpPr>
          <p:cNvPr id="290422026" name="Rectangle 4"/>
          <p:cNvSpPr/>
          <p:nvPr/>
        </p:nvSpPr>
        <p:spPr bwMode="auto">
          <a:xfrm>
            <a:off x="2216148" y="1485795"/>
            <a:ext cx="3761317" cy="444394"/>
          </a:xfrm>
          <a:prstGeom prst="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IN"/>
          </a:p>
        </p:txBody>
      </p:sp>
      <p:sp>
        <p:nvSpPr>
          <p:cNvPr id="382856619" name="Rectangle 5"/>
          <p:cNvSpPr/>
          <p:nvPr/>
        </p:nvSpPr>
        <p:spPr bwMode="auto">
          <a:xfrm>
            <a:off x="2216149" y="2295315"/>
            <a:ext cx="3761317" cy="5672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IN"/>
          </a:p>
        </p:txBody>
      </p:sp>
      <p:sp>
        <p:nvSpPr>
          <p:cNvPr id="907582593" name="Rectangle 6"/>
          <p:cNvSpPr/>
          <p:nvPr/>
        </p:nvSpPr>
        <p:spPr bwMode="auto">
          <a:xfrm>
            <a:off x="2216150" y="3192039"/>
            <a:ext cx="3761317" cy="5672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IN"/>
          </a:p>
        </p:txBody>
      </p:sp>
      <p:sp>
        <p:nvSpPr>
          <p:cNvPr id="1514225881" name="Rectangle 7"/>
          <p:cNvSpPr/>
          <p:nvPr/>
        </p:nvSpPr>
        <p:spPr bwMode="auto">
          <a:xfrm>
            <a:off x="2216148" y="3995420"/>
            <a:ext cx="3761317" cy="5672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IN"/>
          </a:p>
        </p:txBody>
      </p:sp>
      <p:sp>
        <p:nvSpPr>
          <p:cNvPr id="1544205119" name="Rectangle 8"/>
          <p:cNvSpPr/>
          <p:nvPr/>
        </p:nvSpPr>
        <p:spPr bwMode="auto">
          <a:xfrm>
            <a:off x="2216148" y="4898178"/>
            <a:ext cx="3761317" cy="5672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IN"/>
          </a:p>
        </p:txBody>
      </p:sp>
      <p:sp>
        <p:nvSpPr>
          <p:cNvPr id="1654333520" name="TextBox 11"/>
          <p:cNvSpPr txBox="1"/>
          <p:nvPr/>
        </p:nvSpPr>
        <p:spPr bwMode="auto">
          <a:xfrm>
            <a:off x="3263899" y="1521276"/>
            <a:ext cx="3312795" cy="369332"/>
          </a:xfrm>
          <a:prstGeom prst="rect">
            <a:avLst/>
          </a:prstGeom>
          <a:noFill/>
        </p:spPr>
        <p:txBody>
          <a:bodyPr wrap="square" rtlCol="0">
            <a:spAutoFit/>
          </a:bodyPr>
          <a:lstStyle/>
          <a:p>
            <a:pPr>
              <a:defRPr/>
            </a:pPr>
            <a:r>
              <a:rPr lang="en-US"/>
              <a:t>User input </a:t>
            </a:r>
          </a:p>
        </p:txBody>
      </p:sp>
      <p:sp>
        <p:nvSpPr>
          <p:cNvPr id="1630906052" name="TextBox 12"/>
          <p:cNvSpPr txBox="1"/>
          <p:nvPr/>
        </p:nvSpPr>
        <p:spPr bwMode="auto">
          <a:xfrm>
            <a:off x="2534980" y="2395887"/>
            <a:ext cx="3450528" cy="366119"/>
          </a:xfrm>
          <a:prstGeom prst="rect">
            <a:avLst/>
          </a:prstGeom>
          <a:noFill/>
        </p:spPr>
        <p:txBody>
          <a:bodyPr wrap="square" rtlCol="0">
            <a:spAutoFit/>
          </a:bodyPr>
          <a:lstStyle/>
          <a:p>
            <a:pPr>
              <a:defRPr/>
            </a:pPr>
            <a:r>
              <a:rPr lang="en-US"/>
              <a:t>GPS Based Navigation System</a:t>
            </a:r>
            <a:endParaRPr lang="en-IN"/>
          </a:p>
        </p:txBody>
      </p:sp>
      <p:sp>
        <p:nvSpPr>
          <p:cNvPr id="340034267" name="TextBox 13"/>
          <p:cNvSpPr txBox="1"/>
          <p:nvPr/>
        </p:nvSpPr>
        <p:spPr bwMode="auto">
          <a:xfrm>
            <a:off x="2545289" y="3163252"/>
            <a:ext cx="3103033" cy="646331"/>
          </a:xfrm>
          <a:prstGeom prst="rect">
            <a:avLst/>
          </a:prstGeom>
          <a:noFill/>
        </p:spPr>
        <p:txBody>
          <a:bodyPr wrap="square" rtlCol="0">
            <a:spAutoFit/>
          </a:bodyPr>
          <a:lstStyle/>
          <a:p>
            <a:pPr>
              <a:defRPr/>
            </a:pPr>
            <a:r>
              <a:rPr lang="en-US"/>
              <a:t>Route Calculation (Shortest/Fastest)</a:t>
            </a:r>
            <a:endParaRPr lang="en-IN"/>
          </a:p>
        </p:txBody>
      </p:sp>
      <p:sp>
        <p:nvSpPr>
          <p:cNvPr id="545170816" name="TextBox 14"/>
          <p:cNvSpPr txBox="1"/>
          <p:nvPr/>
        </p:nvSpPr>
        <p:spPr bwMode="auto">
          <a:xfrm>
            <a:off x="2645832" y="3955887"/>
            <a:ext cx="2806700" cy="646331"/>
          </a:xfrm>
          <a:prstGeom prst="rect">
            <a:avLst/>
          </a:prstGeom>
          <a:noFill/>
        </p:spPr>
        <p:txBody>
          <a:bodyPr wrap="square" rtlCol="0">
            <a:spAutoFit/>
          </a:bodyPr>
          <a:lstStyle/>
          <a:p>
            <a:pPr>
              <a:defRPr/>
            </a:pPr>
            <a:r>
              <a:rPr lang="en-US"/>
              <a:t>Route Display on User Device</a:t>
            </a:r>
            <a:endParaRPr lang="en-IN"/>
          </a:p>
        </p:txBody>
      </p:sp>
      <p:sp>
        <p:nvSpPr>
          <p:cNvPr id="338878107" name="TextBox 15"/>
          <p:cNvSpPr txBox="1"/>
          <p:nvPr/>
        </p:nvSpPr>
        <p:spPr bwMode="auto">
          <a:xfrm>
            <a:off x="2708728" y="4958846"/>
            <a:ext cx="3103033" cy="369332"/>
          </a:xfrm>
          <a:prstGeom prst="rect">
            <a:avLst/>
          </a:prstGeom>
          <a:noFill/>
        </p:spPr>
        <p:txBody>
          <a:bodyPr wrap="square" rtlCol="0">
            <a:spAutoFit/>
          </a:bodyPr>
          <a:lstStyle/>
          <a:p>
            <a:pPr>
              <a:defRPr/>
            </a:pPr>
            <a:r>
              <a:rPr lang="en-US"/>
              <a:t>Route Navigation</a:t>
            </a:r>
            <a:endParaRPr lang="en-IN"/>
          </a:p>
        </p:txBody>
      </p:sp>
      <p:cxnSp>
        <p:nvCxnSpPr>
          <p:cNvPr id="112847555" name="Straight Arrow Connector 17"/>
          <p:cNvCxnSpPr/>
          <p:nvPr/>
        </p:nvCxnSpPr>
        <p:spPr bwMode="auto">
          <a:xfrm>
            <a:off x="4049182" y="1926089"/>
            <a:ext cx="0" cy="3692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0830147" name="Straight Arrow Connector 20"/>
          <p:cNvCxnSpPr/>
          <p:nvPr/>
        </p:nvCxnSpPr>
        <p:spPr bwMode="auto">
          <a:xfrm>
            <a:off x="3972982" y="2862581"/>
            <a:ext cx="0" cy="3294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8661325" name="Straight Arrow Connector 22"/>
          <p:cNvCxnSpPr/>
          <p:nvPr/>
        </p:nvCxnSpPr>
        <p:spPr bwMode="auto">
          <a:xfrm>
            <a:off x="3972982" y="3759305"/>
            <a:ext cx="0" cy="2458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1429505" name="Straight Arrow Connector 26"/>
          <p:cNvCxnSpPr/>
          <p:nvPr/>
        </p:nvCxnSpPr>
        <p:spPr bwMode="auto">
          <a:xfrm>
            <a:off x="3972982" y="4562686"/>
            <a:ext cx="0" cy="3692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9935320" name="Title 1"/>
          <p:cNvSpPr>
            <a:spLocks noGrp="1"/>
          </p:cNvSpPr>
          <p:nvPr>
            <p:ph type="title"/>
          </p:nvPr>
        </p:nvSpPr>
        <p:spPr bwMode="auto">
          <a:xfrm>
            <a:off x="3159760" y="609600"/>
            <a:ext cx="6114242" cy="853440"/>
          </a:xfrm>
        </p:spPr>
        <p:txBody>
          <a:bodyPr>
            <a:normAutofit/>
          </a:bodyPr>
          <a:lstStyle/>
          <a:p>
            <a:pPr>
              <a:defRPr/>
            </a:pPr>
            <a:r>
              <a:rPr lang="en-US" sz="2000" b="1">
                <a:solidFill>
                  <a:schemeClr val="accent5">
                    <a:lumMod val="75000"/>
                  </a:schemeClr>
                </a:solidFill>
                <a:latin typeface="Times New Roman" panose="02020603050405020304"/>
                <a:cs typeface="Times New Roman" panose="02020603050405020304"/>
              </a:rPr>
              <a:t>EXISTING SYSTEM</a:t>
            </a:r>
            <a:endParaRPr lang="en-IN" sz="2000"/>
          </a:p>
        </p:txBody>
      </p:sp>
      <p:pic>
        <p:nvPicPr>
          <p:cNvPr id="1256413048" name="Picture 2" descr="https://spechyd.ac.in/wp-content/uploads/2022/06/Logo1.png"/>
          <p:cNvPicPr>
            <a:picLocks noChangeAspect="1" noChangeArrowheads="1"/>
          </p:cNvPicPr>
          <p:nvPr/>
        </p:nvPicPr>
        <p:blipFill>
          <a:blip r:embed="rId3"/>
          <a:stretch>
            <a:fillRect/>
          </a:stretch>
        </p:blipFill>
        <p:spPr bwMode="auto">
          <a:xfrm>
            <a:off x="-30480" y="2"/>
            <a:ext cx="1422400" cy="1047640"/>
          </a:xfrm>
          <a:prstGeom prst="rect">
            <a:avLst/>
          </a:prstGeom>
          <a:noFill/>
        </p:spPr>
      </p:pic>
      <p:sp>
        <p:nvSpPr>
          <p:cNvPr id="1186217934" name="Rectangle 6"/>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ln>
          <a:effectLst/>
        </p:spPr>
        <p:txBody>
          <a:bodyPr vert="horz" wrap="none" lIns="91440" tIns="45720" rIns="91440" bIns="45720" numCol="1" anchor="ctr" anchorCtr="0" compatLnSpc="1">
            <a:spAutoFit/>
          </a:bodyPr>
          <a:lstStyle/>
          <a:p>
            <a:pPr>
              <a:defRPr/>
            </a:pPr>
            <a:endParaRPr lang="en-IN"/>
          </a:p>
        </p:txBody>
      </p:sp>
      <p:sp>
        <p:nvSpPr>
          <p:cNvPr id="1644540350" name="TextBox 14"/>
          <p:cNvSpPr txBox="1"/>
          <p:nvPr/>
        </p:nvSpPr>
        <p:spPr bwMode="auto">
          <a:xfrm>
            <a:off x="882650" y="1463040"/>
            <a:ext cx="8747760" cy="4365625"/>
          </a:xfrm>
          <a:prstGeom prst="rect">
            <a:avLst/>
          </a:prstGeom>
          <a:noFill/>
        </p:spPr>
        <p:txBody>
          <a:bodyPr wrap="square">
            <a:noAutofit/>
          </a:bodyPr>
          <a:lstStyle/>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Current navigation systems like Google Maps and Waze are widely used for route planning.</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These systems suggest routes based on shortest distance or estimated travel time.</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Traffic updates are considered, but environmental factors like pollution levels or fuel efficiency are ignored.</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There is no feature to suggest eco-friendly or low-emission routes.</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The existing systems do not support dynamic decision-making based on real-time air quality or carbon footprint.</a:t>
            </a:r>
          </a:p>
          <a:p>
            <a:pPr marL="285750" indent="-285750" algn="just">
              <a:lnSpc>
                <a:spcPct val="150000"/>
              </a:lnSpc>
              <a:buFont typeface="Arial" panose="020B0604020202020204"/>
              <a:buChar char="•"/>
              <a:defRPr/>
            </a:pPr>
            <a:r>
              <a:rPr lang="en-US">
                <a:latin typeface="Times New Roman" panose="02020603050405020304"/>
                <a:cs typeface="Times New Roman" panose="02020603050405020304"/>
              </a:rPr>
              <a:t>Hence, they are not aligned with sustainability goals such as SDG 11 – Sustainable Cities and Communities.</a:t>
            </a:r>
          </a:p>
          <a:p>
            <a:pPr marL="285750" indent="-285750" algn="just">
              <a:lnSpc>
                <a:spcPct val="150000"/>
              </a:lnSpc>
              <a:buFont typeface="Arial" panose="020B0604020202020204"/>
              <a:buChar char="•"/>
              <a:defRPr/>
            </a:pPr>
            <a:endParaRPr lang="en-US">
              <a:latin typeface="Times New Roman" panose="02020603050405020304"/>
              <a:cs typeface="Times New Roman" panose="02020603050405020304"/>
            </a:endParaRPr>
          </a:p>
          <a:p>
            <a:pPr marL="285750" indent="-285750" algn="just">
              <a:lnSpc>
                <a:spcPct val="150000"/>
              </a:lnSpc>
              <a:buFont typeface="Arial" panose="020B0604020202020204"/>
              <a:buChar char="•"/>
              <a:defRPr/>
            </a:pPr>
            <a:endParaRPr lang="en-US">
              <a:latin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9491484" name="Title 1"/>
          <p:cNvSpPr>
            <a:spLocks noGrp="1"/>
          </p:cNvSpPr>
          <p:nvPr>
            <p:ph type="title"/>
          </p:nvPr>
        </p:nvSpPr>
        <p:spPr bwMode="auto">
          <a:xfrm>
            <a:off x="3090441" y="609600"/>
            <a:ext cx="6377649" cy="685800"/>
          </a:xfrm>
        </p:spPr>
        <p:txBody>
          <a:bodyPr>
            <a:normAutofit/>
          </a:bodyPr>
          <a:lstStyle/>
          <a:p>
            <a:pPr>
              <a:defRPr/>
            </a:pPr>
            <a:r>
              <a:rPr lang="en-IN" sz="2000" b="1">
                <a:solidFill>
                  <a:schemeClr val="accent5">
                    <a:lumMod val="75000"/>
                  </a:schemeClr>
                </a:solidFill>
                <a:latin typeface="Times New Roman" panose="02020603050405020304"/>
                <a:cs typeface="Times New Roman" panose="02020603050405020304"/>
              </a:rPr>
              <a:t>BLOCK DIAGRAM OF THE PROPOSED SYSTEM</a:t>
            </a:r>
          </a:p>
        </p:txBody>
      </p:sp>
      <p:pic>
        <p:nvPicPr>
          <p:cNvPr id="774490163" name="Picture 2" descr="https://spechyd.ac.in/wp-content/uploads/2022/06/Logo1.png"/>
          <p:cNvPicPr>
            <a:picLocks noChangeAspect="1" noChangeArrowheads="1"/>
          </p:cNvPicPr>
          <p:nvPr/>
        </p:nvPicPr>
        <p:blipFill>
          <a:blip r:embed="rId3"/>
          <a:stretch>
            <a:fillRect/>
          </a:stretch>
        </p:blipFill>
        <p:spPr bwMode="auto">
          <a:xfrm>
            <a:off x="-30480" y="2"/>
            <a:ext cx="1758786" cy="1295398"/>
          </a:xfrm>
          <a:prstGeom prst="rect">
            <a:avLst/>
          </a:prstGeom>
          <a:noFill/>
        </p:spPr>
      </p:pic>
      <p:sp>
        <p:nvSpPr>
          <p:cNvPr id="63090431" name="TextBox 8"/>
          <p:cNvSpPr txBox="1"/>
          <p:nvPr/>
        </p:nvSpPr>
        <p:spPr bwMode="auto">
          <a:xfrm>
            <a:off x="3090440" y="1591732"/>
            <a:ext cx="2917126" cy="366119"/>
          </a:xfrm>
          <a:prstGeom prst="rect">
            <a:avLst/>
          </a:prstGeom>
          <a:noFill/>
        </p:spPr>
        <p:txBody>
          <a:bodyPr wrap="square" rtlCol="0">
            <a:spAutoFit/>
          </a:bodyPr>
          <a:lstStyle/>
          <a:p>
            <a:pPr>
              <a:defRPr/>
            </a:pPr>
            <a:endParaRPr lang="en-IN"/>
          </a:p>
        </p:txBody>
      </p:sp>
      <p:sp>
        <p:nvSpPr>
          <p:cNvPr id="1151664862" name="TextBox 9"/>
          <p:cNvSpPr txBox="1"/>
          <p:nvPr/>
        </p:nvSpPr>
        <p:spPr bwMode="auto">
          <a:xfrm>
            <a:off x="2710564" y="2386166"/>
            <a:ext cx="3569419" cy="366119"/>
          </a:xfrm>
          <a:prstGeom prst="rect">
            <a:avLst/>
          </a:prstGeom>
          <a:noFill/>
        </p:spPr>
        <p:txBody>
          <a:bodyPr wrap="square" rtlCol="0">
            <a:spAutoFit/>
          </a:bodyPr>
          <a:lstStyle/>
          <a:p>
            <a:pPr>
              <a:defRPr/>
            </a:pPr>
            <a:endParaRPr lang="en-IN"/>
          </a:p>
        </p:txBody>
      </p:sp>
      <p:sp>
        <p:nvSpPr>
          <p:cNvPr id="2060574876" name="TextBox 10"/>
          <p:cNvSpPr txBox="1"/>
          <p:nvPr/>
        </p:nvSpPr>
        <p:spPr bwMode="auto">
          <a:xfrm>
            <a:off x="2889247" y="3337296"/>
            <a:ext cx="2638086" cy="366119"/>
          </a:xfrm>
          <a:prstGeom prst="rect">
            <a:avLst/>
          </a:prstGeom>
          <a:noFill/>
        </p:spPr>
        <p:txBody>
          <a:bodyPr wrap="square" rtlCol="0">
            <a:spAutoFit/>
          </a:bodyPr>
          <a:lstStyle/>
          <a:p>
            <a:pPr>
              <a:defRPr/>
            </a:pPr>
            <a:endParaRPr lang="en-IN"/>
          </a:p>
        </p:txBody>
      </p:sp>
      <p:sp>
        <p:nvSpPr>
          <p:cNvPr id="1013120868" name="TextBox 15"/>
          <p:cNvSpPr txBox="1"/>
          <p:nvPr/>
        </p:nvSpPr>
        <p:spPr bwMode="auto">
          <a:xfrm>
            <a:off x="3090440" y="4467766"/>
            <a:ext cx="183636" cy="366119"/>
          </a:xfrm>
          <a:prstGeom prst="rect">
            <a:avLst/>
          </a:prstGeom>
          <a:noFill/>
        </p:spPr>
        <p:txBody>
          <a:bodyPr wrap="none" rtlCol="0">
            <a:spAutoFit/>
          </a:bodyPr>
          <a:lstStyle/>
          <a:p>
            <a:pPr>
              <a:defRPr/>
            </a:pPr>
            <a:endParaRPr lang="en-IN"/>
          </a:p>
        </p:txBody>
      </p:sp>
      <p:sp>
        <p:nvSpPr>
          <p:cNvPr id="116695215" name="TextBox 16"/>
          <p:cNvSpPr txBox="1"/>
          <p:nvPr/>
        </p:nvSpPr>
        <p:spPr bwMode="auto">
          <a:xfrm>
            <a:off x="3269355" y="5418666"/>
            <a:ext cx="2002726" cy="366119"/>
          </a:xfrm>
          <a:prstGeom prst="rect">
            <a:avLst/>
          </a:prstGeom>
          <a:noFill/>
        </p:spPr>
        <p:txBody>
          <a:bodyPr wrap="square" rtlCol="0">
            <a:spAutoFit/>
          </a:bodyPr>
          <a:lstStyle/>
          <a:p>
            <a:pPr>
              <a:defRPr/>
            </a:pPr>
            <a:endParaRPr lang="en-IN"/>
          </a:p>
        </p:txBody>
      </p:sp>
      <p:pic>
        <p:nvPicPr>
          <p:cNvPr id="2050" name="Picture 2">
            <a:extLst>
              <a:ext uri="{FF2B5EF4-FFF2-40B4-BE49-F238E27FC236}">
                <a16:creationId xmlns:a16="http://schemas.microsoft.com/office/drawing/2014/main" id="{4B6EAAEE-4DDF-91F8-3D10-7240A31BC0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0003" y="1179872"/>
            <a:ext cx="6746358" cy="54003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0021321" name="Title 2"/>
          <p:cNvSpPr>
            <a:spLocks noGrp="1"/>
          </p:cNvSpPr>
          <p:nvPr>
            <p:ph type="title"/>
          </p:nvPr>
        </p:nvSpPr>
        <p:spPr bwMode="auto">
          <a:xfrm>
            <a:off x="3647768" y="580104"/>
            <a:ext cx="3736259" cy="1004695"/>
          </a:xfrm>
        </p:spPr>
        <p:txBody>
          <a:bodyPr>
            <a:normAutofit/>
          </a:bodyPr>
          <a:lstStyle/>
          <a:p>
            <a:pPr>
              <a:defRPr/>
            </a:pPr>
            <a:r>
              <a:rPr lang="en-IN" sz="2000" b="1">
                <a:solidFill>
                  <a:schemeClr val="accent5">
                    <a:lumMod val="75000"/>
                  </a:schemeClr>
                </a:solidFill>
                <a:latin typeface="Times New Roman" panose="02020603050405020304"/>
                <a:cs typeface="Times New Roman" panose="02020603050405020304"/>
              </a:rPr>
              <a:t>PROPOSED SYSTEM</a:t>
            </a:r>
          </a:p>
        </p:txBody>
      </p:sp>
      <p:pic>
        <p:nvPicPr>
          <p:cNvPr id="140267519" name="Picture 2" descr="https://spechyd.ac.in/wp-content/uploads/2022/06/Logo1.png"/>
          <p:cNvPicPr>
            <a:picLocks noChangeAspect="1" noChangeArrowheads="1"/>
          </p:cNvPicPr>
          <p:nvPr/>
        </p:nvPicPr>
        <p:blipFill>
          <a:blip r:embed="rId3"/>
          <a:stretch>
            <a:fillRect/>
          </a:stretch>
        </p:blipFill>
        <p:spPr bwMode="auto">
          <a:xfrm>
            <a:off x="-30480" y="2"/>
            <a:ext cx="1758786" cy="1295398"/>
          </a:xfrm>
          <a:prstGeom prst="rect">
            <a:avLst/>
          </a:prstGeom>
          <a:noFill/>
        </p:spPr>
      </p:pic>
      <p:sp>
        <p:nvSpPr>
          <p:cNvPr id="1914579254" name="TextBox 7"/>
          <p:cNvSpPr txBox="1"/>
          <p:nvPr/>
        </p:nvSpPr>
        <p:spPr bwMode="auto">
          <a:xfrm>
            <a:off x="516193" y="1584798"/>
            <a:ext cx="9527457" cy="5077460"/>
          </a:xfrm>
          <a:prstGeom prst="rect">
            <a:avLst/>
          </a:prstGeom>
          <a:noFill/>
        </p:spPr>
        <p:txBody>
          <a:bodyPr wrap="square">
            <a:spAutoFit/>
          </a:bodyPr>
          <a:lstStyle/>
          <a:p>
            <a:pPr marL="285750" indent="-285750">
              <a:lnSpc>
                <a:spcPct val="150000"/>
              </a:lnSpc>
              <a:buFont typeface="Arial" panose="020B0604020202020204"/>
              <a:buChar char="•"/>
              <a:defRPr/>
            </a:pPr>
            <a:r>
              <a:rPr lang="en-US">
                <a:latin typeface="Times New Roman" panose="02020603050405020304"/>
                <a:cs typeface="Times New Roman" panose="02020603050405020304"/>
              </a:rPr>
              <a:t>The proposed system aims to provide eco-friendly route suggestions to reduce traffic congestion and pollution.</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It collects real-time data such as traffic density, air quality, and road conditions</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This data is processed using a smart eco-routing algorithm that prioritizes both speed and environmental impact.</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The system selects the optimal route based on the least emission and congestion levels.</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It continuously updates route suggestions as traffic or pollution conditions change.</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Users receive route guidance through a simple and interactive interface (e.g., mobile app).</a:t>
            </a:r>
          </a:p>
          <a:p>
            <a:pPr marL="285750" indent="-285750">
              <a:lnSpc>
                <a:spcPct val="150000"/>
              </a:lnSpc>
              <a:buFont typeface="Arial" panose="020B0604020202020204"/>
              <a:buChar char="•"/>
              <a:defRPr/>
            </a:pPr>
            <a:r>
              <a:rPr lang="en-US">
                <a:latin typeface="Times New Roman" panose="02020603050405020304"/>
                <a:cs typeface="Times New Roman" panose="02020603050405020304"/>
              </a:rPr>
              <a:t>This approach supports sustainable urban mobility and aligns with SDG 11 – Sustainable Cities and Communities.</a:t>
            </a:r>
          </a:p>
          <a:p>
            <a:pPr>
              <a:lnSpc>
                <a:spcPct val="150000"/>
              </a:lnSpc>
              <a:buNone/>
              <a:defRPr/>
            </a:pPr>
            <a:endParaRPr lang="en-US">
              <a:latin typeface="Times New Roman" panose="02020603050405020304"/>
              <a:cs typeface="Times New Roman" panose="02020603050405020304"/>
            </a:endParaRPr>
          </a:p>
          <a:p>
            <a:pPr>
              <a:lnSpc>
                <a:spcPct val="150000"/>
              </a:lnSpc>
              <a:buNone/>
              <a:defRPr/>
            </a:pPr>
            <a:endParaRPr lang="en-US">
              <a:latin typeface="Times New Roman" panose="02020603050405020304"/>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06915445" name="Title 1"/>
          <p:cNvSpPr>
            <a:spLocks noGrp="1"/>
          </p:cNvSpPr>
          <p:nvPr>
            <p:ph type="title"/>
          </p:nvPr>
        </p:nvSpPr>
        <p:spPr bwMode="auto">
          <a:xfrm>
            <a:off x="2580207" y="647701"/>
            <a:ext cx="6608369" cy="1320800"/>
          </a:xfrm>
        </p:spPr>
        <p:txBody>
          <a:bodyPr>
            <a:normAutofit/>
          </a:bodyPr>
          <a:lstStyle/>
          <a:p>
            <a:pPr>
              <a:defRPr/>
            </a:pPr>
            <a:r>
              <a:rPr lang="en-IN" sz="2000" b="1">
                <a:solidFill>
                  <a:schemeClr val="accent5">
                    <a:lumMod val="75000"/>
                  </a:schemeClr>
                </a:solidFill>
                <a:latin typeface="Times New Roman" panose="02020603050405020304"/>
                <a:cs typeface="Times New Roman" panose="02020603050405020304"/>
              </a:rPr>
              <a:t>HARDWARE AND SOFTWARE REQUIRED</a:t>
            </a:r>
            <a:endParaRPr lang="en-IN" sz="2000">
              <a:solidFill>
                <a:schemeClr val="accent5">
                  <a:lumMod val="75000"/>
                </a:schemeClr>
              </a:solidFill>
              <a:latin typeface="Times New Roman" panose="02020603050405020304"/>
              <a:cs typeface="Times New Roman" panose="02020603050405020304"/>
            </a:endParaRPr>
          </a:p>
        </p:txBody>
      </p:sp>
      <p:pic>
        <p:nvPicPr>
          <p:cNvPr id="1587860845" name="Picture 2" descr="https://spechyd.ac.in/wp-content/uploads/2022/06/Logo1.png"/>
          <p:cNvPicPr>
            <a:picLocks noChangeAspect="1" noChangeArrowheads="1"/>
          </p:cNvPicPr>
          <p:nvPr/>
        </p:nvPicPr>
        <p:blipFill>
          <a:blip r:embed="rId3"/>
          <a:stretch>
            <a:fillRect/>
          </a:stretch>
        </p:blipFill>
        <p:spPr bwMode="auto">
          <a:xfrm>
            <a:off x="-30480" y="2"/>
            <a:ext cx="1758786" cy="1295398"/>
          </a:xfrm>
          <a:prstGeom prst="rect">
            <a:avLst/>
          </a:prstGeom>
          <a:noFill/>
        </p:spPr>
      </p:pic>
      <p:sp>
        <p:nvSpPr>
          <p:cNvPr id="1460088811" name="TextBox 4"/>
          <p:cNvSpPr txBox="1"/>
          <p:nvPr/>
        </p:nvSpPr>
        <p:spPr bwMode="auto">
          <a:xfrm>
            <a:off x="932815" y="1165225"/>
            <a:ext cx="8986520" cy="5351780"/>
          </a:xfrm>
          <a:prstGeom prst="rect">
            <a:avLst/>
          </a:prstGeom>
          <a:noFill/>
        </p:spPr>
        <p:txBody>
          <a:bodyPr wrap="square">
            <a:noAutofit/>
          </a:bodyPr>
          <a:lstStyle/>
          <a:p>
            <a:pPr marL="342900" indent="-342900" algn="just">
              <a:lnSpc>
                <a:spcPct val="150000"/>
              </a:lnSpc>
              <a:buFont typeface="Wingdings" panose="05000000000000000000"/>
              <a:buChar char="§"/>
              <a:defRPr/>
            </a:pPr>
            <a:r>
              <a:rPr lang="en-IN" b="1" dirty="0">
                <a:latin typeface="Times New Roman" panose="02020603050405020304"/>
                <a:cs typeface="Times New Roman" panose="02020603050405020304"/>
              </a:rPr>
              <a:t>Software Tools Used:</a:t>
            </a:r>
          </a:p>
          <a:p>
            <a:pPr marL="285750" indent="-285750" algn="just">
              <a:lnSpc>
                <a:spcPct val="150000"/>
              </a:lnSpc>
              <a:buFont typeface="Arial" panose="020B0604020202020204"/>
              <a:buChar char="•"/>
              <a:defRPr/>
            </a:pPr>
            <a:r>
              <a:rPr lang="en-US" dirty="0">
                <a:latin typeface="Times New Roman" panose="02020603050405020304"/>
                <a:cs typeface="Times New Roman" panose="02020603050405020304"/>
              </a:rPr>
              <a:t>Arduino IDE </a:t>
            </a:r>
          </a:p>
          <a:p>
            <a:pPr marL="285750" indent="-285750" algn="just">
              <a:lnSpc>
                <a:spcPct val="150000"/>
              </a:lnSpc>
              <a:buFont typeface="Arial" panose="020B0604020202020204"/>
              <a:buChar char="•"/>
              <a:defRPr/>
            </a:pPr>
            <a:r>
              <a:rPr lang="en-IN" dirty="0">
                <a:latin typeface="Times New Roman" panose="02020603050405020304" pitchFamily="18" charset="0"/>
                <a:cs typeface="Times New Roman" panose="02020603050405020304" pitchFamily="18" charset="0"/>
              </a:rPr>
              <a:t>Blynk IoT App (Mobile &amp; Cloud)</a:t>
            </a:r>
          </a:p>
          <a:p>
            <a:pPr marL="285750" indent="-285750" algn="just">
              <a:lnSpc>
                <a:spcPct val="150000"/>
              </a:lnSpc>
              <a:buFont typeface="Arial" panose="020B0604020202020204"/>
              <a:buChar char="•"/>
              <a:defRPr/>
            </a:pPr>
            <a:r>
              <a:rPr lang="en-US" dirty="0">
                <a:latin typeface="Times New Roman" panose="02020603050405020304" pitchFamily="18" charset="0"/>
                <a:cs typeface="Times New Roman" panose="02020603050405020304" pitchFamily="18" charset="0"/>
              </a:rPr>
              <a:t>Embedded C / C++ Programming Language</a:t>
            </a:r>
          </a:p>
          <a:p>
            <a:pPr marL="285750" indent="-285750" algn="just">
              <a:lnSpc>
                <a:spcPct val="150000"/>
              </a:lnSpc>
              <a:buFont typeface="Arial" panose="020B0604020202020204"/>
              <a:buChar char="•"/>
              <a:defRPr/>
            </a:pPr>
            <a:r>
              <a:rPr lang="en-IN" dirty="0">
                <a:latin typeface="Times New Roman" panose="02020603050405020304" pitchFamily="18" charset="0"/>
                <a:cs typeface="Times New Roman" panose="02020603050405020304" pitchFamily="18" charset="0"/>
              </a:rPr>
              <a:t>Blynk Cloud Server</a:t>
            </a:r>
          </a:p>
          <a:p>
            <a:pPr marL="285750" indent="-285750" algn="just">
              <a:lnSpc>
                <a:spcPct val="150000"/>
              </a:lnSpc>
              <a:buFont typeface="Arial" panose="020B0604020202020204"/>
              <a:buChar char="•"/>
              <a:defRPr/>
            </a:pPr>
            <a:r>
              <a:rPr lang="en-IN" dirty="0">
                <a:latin typeface="Times New Roman" panose="02020603050405020304" pitchFamily="18" charset="0"/>
                <a:cs typeface="Times New Roman" panose="02020603050405020304" pitchFamily="18" charset="0"/>
              </a:rPr>
              <a:t>Serial Monitor (from Arduino IDE)</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a:buChar char="§"/>
              <a:defRPr/>
            </a:pPr>
            <a:r>
              <a:rPr lang="en-IN" b="1" dirty="0">
                <a:latin typeface="Times New Roman" panose="02020603050405020304"/>
                <a:cs typeface="Times New Roman" panose="02020603050405020304"/>
              </a:rPr>
              <a:t>Hardware:</a:t>
            </a:r>
          </a:p>
          <a:p>
            <a:pPr marL="285750" indent="-285750" algn="just">
              <a:lnSpc>
                <a:spcPct val="150000"/>
              </a:lnSpc>
              <a:buFont typeface="Arial" panose="020B0604020202020204"/>
              <a:buChar char="•"/>
              <a:defRPr/>
            </a:pPr>
            <a:r>
              <a:rPr lang="en-IN" dirty="0">
                <a:latin typeface="Times New Roman" panose="02020603050405020304" pitchFamily="18" charset="0"/>
                <a:cs typeface="Times New Roman" panose="02020603050405020304" pitchFamily="18" charset="0"/>
              </a:rPr>
              <a:t>ESP32 Microcontroller</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a:buChar char="•"/>
              <a:defRPr/>
            </a:pPr>
            <a:r>
              <a:rPr lang="en-IN" dirty="0">
                <a:latin typeface="Times New Roman" panose="02020603050405020304" pitchFamily="18" charset="0"/>
                <a:cs typeface="Times New Roman" panose="02020603050405020304" pitchFamily="18" charset="0"/>
              </a:rPr>
              <a:t>IR Sensors (Infrared Sensors)</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a:buChar char="•"/>
              <a:defRPr/>
            </a:pPr>
            <a:r>
              <a:rPr lang="en-US" dirty="0">
                <a:latin typeface="Times New Roman" panose="02020603050405020304"/>
                <a:cs typeface="Times New Roman" panose="02020603050405020304"/>
              </a:rPr>
              <a:t>Power Supply and Connecting Wires</a:t>
            </a:r>
          </a:p>
          <a:p>
            <a:pPr marL="285750" indent="-285750" algn="just">
              <a:lnSpc>
                <a:spcPct val="150000"/>
              </a:lnSpc>
              <a:buFont typeface="Arial" panose="020B0604020202020204"/>
              <a:buChar char="•"/>
              <a:defRPr/>
            </a:pPr>
            <a:r>
              <a:rPr lang="en-US" dirty="0">
                <a:latin typeface="Times New Roman" panose="02020603050405020304"/>
                <a:cs typeface="Times New Roman" panose="02020603050405020304"/>
              </a:rPr>
              <a:t>Vehicles (for practical model/demo).</a:t>
            </a:r>
          </a:p>
          <a:p>
            <a:pPr indent="0" algn="just">
              <a:lnSpc>
                <a:spcPct val="150000"/>
              </a:lnSpc>
              <a:buFont typeface="Arial" panose="020B0604020202020204"/>
              <a:buNone/>
              <a:defRPr/>
            </a:pPr>
            <a:endParaRPr lang="en-US" dirty="0">
              <a:latin typeface="Times New Roman" panose="020206030504050203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66636142" name="Title 1"/>
          <p:cNvSpPr>
            <a:spLocks noGrp="1"/>
          </p:cNvSpPr>
          <p:nvPr>
            <p:ph type="title"/>
          </p:nvPr>
        </p:nvSpPr>
        <p:spPr bwMode="auto">
          <a:xfrm>
            <a:off x="4027990" y="320233"/>
            <a:ext cx="5940492" cy="1320800"/>
          </a:xfrm>
        </p:spPr>
        <p:txBody>
          <a:bodyPr>
            <a:normAutofit/>
          </a:bodyPr>
          <a:lstStyle/>
          <a:p>
            <a:pPr>
              <a:defRPr/>
            </a:pPr>
            <a:r>
              <a:rPr lang="en-IN" sz="2000" b="1">
                <a:solidFill>
                  <a:schemeClr val="accent5">
                    <a:lumMod val="75000"/>
                  </a:schemeClr>
                </a:solidFill>
                <a:latin typeface="Times New Roman" panose="02020603050405020304"/>
                <a:cs typeface="Times New Roman" panose="02020603050405020304"/>
              </a:rPr>
              <a:t>REFERENCES</a:t>
            </a:r>
            <a:endParaRPr lang="en-IN" sz="2000"/>
          </a:p>
        </p:txBody>
      </p:sp>
      <p:pic>
        <p:nvPicPr>
          <p:cNvPr id="803337152" name="Picture 2" descr="https://spechyd.ac.in/wp-content/uploads/2022/06/Logo1.png"/>
          <p:cNvPicPr>
            <a:picLocks noChangeAspect="1" noChangeArrowheads="1"/>
          </p:cNvPicPr>
          <p:nvPr/>
        </p:nvPicPr>
        <p:blipFill>
          <a:blip r:embed="rId3"/>
          <a:stretch>
            <a:fillRect/>
          </a:stretch>
        </p:blipFill>
        <p:spPr bwMode="auto">
          <a:xfrm>
            <a:off x="-30480" y="2"/>
            <a:ext cx="1524368" cy="1122742"/>
          </a:xfrm>
          <a:prstGeom prst="rect">
            <a:avLst/>
          </a:prstGeom>
          <a:noFill/>
        </p:spPr>
      </p:pic>
      <p:sp>
        <p:nvSpPr>
          <p:cNvPr id="475579588" name="TextBox 4"/>
          <p:cNvSpPr txBox="1"/>
          <p:nvPr/>
        </p:nvSpPr>
        <p:spPr bwMode="auto">
          <a:xfrm>
            <a:off x="506423" y="1289890"/>
            <a:ext cx="9006205" cy="4914265"/>
          </a:xfrm>
          <a:prstGeom prst="rect">
            <a:avLst/>
          </a:prstGeom>
          <a:noFill/>
        </p:spPr>
        <p:txBody>
          <a:bodyPr wrap="square">
            <a:noAutofit/>
          </a:bodyPr>
          <a:lstStyle/>
          <a:p>
            <a:pPr marL="285750" indent="-285750" algn="just">
              <a:lnSpc>
                <a:spcPct val="150000"/>
              </a:lnSpc>
              <a:buFont typeface="Arial" panose="020B0604020202020204"/>
              <a:buChar char="•"/>
              <a:defRPr/>
            </a:pPr>
            <a:r>
              <a:rPr lang="en-US" dirty="0">
                <a:latin typeface="Times New Roman" panose="02020603050405020304"/>
                <a:cs typeface="Times New Roman" panose="02020603050405020304"/>
              </a:rPr>
              <a:t>Shahul Hammed, S., Preethi, C., Haripriya, K., Pavalarajan, S., Gowtham, M. R., &amp; Krithick, N. A. (2025). Traffic and Pollution Control Using IoT-Enabled Smart Routing Algorithm. IEEE International Conference on Machine Learning and Autonomous Systems. </a:t>
            </a:r>
            <a:r>
              <a:rPr lang="en-US" dirty="0">
                <a:latin typeface="Times New Roman" panose="02020603050405020304"/>
                <a:cs typeface="Times New Roman" panose="02020603050405020304"/>
                <a:hlinkClick r:id="rId4"/>
              </a:rPr>
              <a:t>https://doi.org/10.1109/ICMLAS64557.2025.10969070</a:t>
            </a:r>
            <a:endParaRPr lang="en-US" dirty="0">
              <a:latin typeface="Times New Roman" panose="02020603050405020304"/>
              <a:cs typeface="Times New Roman" panose="02020603050405020304"/>
            </a:endParaRPr>
          </a:p>
          <a:p>
            <a:pPr marL="285750" indent="-285750" algn="just">
              <a:lnSpc>
                <a:spcPct val="150000"/>
              </a:lnSpc>
              <a:buFont typeface="Arial" panose="020B0604020202020204"/>
              <a:buChar char="•"/>
              <a:defRPr/>
            </a:pPr>
            <a:r>
              <a:rPr lang="en-US" dirty="0">
                <a:latin typeface="Times New Roman" panose="02020603050405020304"/>
                <a:cs typeface="Times New Roman" panose="02020603050405020304"/>
              </a:rPr>
              <a:t>Kumar, R., &amp; Reddy, A. (2023). Eco-Routing for Sustainable Urban Mobility. International Journal of Smart Transportation, 7(2), 45-53.</a:t>
            </a:r>
          </a:p>
          <a:p>
            <a:pPr marL="285750" indent="-285750" algn="just">
              <a:lnSpc>
                <a:spcPct val="150000"/>
              </a:lnSpc>
              <a:buFont typeface="Arial" panose="020B0604020202020204"/>
              <a:buChar char="•"/>
              <a:defRPr/>
            </a:pPr>
            <a:r>
              <a:rPr lang="en-US" dirty="0">
                <a:latin typeface="Times New Roman" panose="02020603050405020304"/>
                <a:cs typeface="Times New Roman" panose="02020603050405020304"/>
              </a:rPr>
              <a:t>Sharma, P., &amp; Mehta, K. (2021). Data-Driven Route Optimization for Smart Cities. Smart City Innovations Journal, 5(1), 34-41.</a:t>
            </a:r>
          </a:p>
          <a:p>
            <a:pPr marL="285750" indent="-285750" algn="just">
              <a:lnSpc>
                <a:spcPct val="150000"/>
              </a:lnSpc>
              <a:buFont typeface="Arial" panose="020B0604020202020204"/>
              <a:buChar char="•"/>
              <a:defRPr/>
            </a:pPr>
            <a:r>
              <a:rPr lang="en-US" dirty="0">
                <a:latin typeface="Times New Roman" panose="02020603050405020304"/>
                <a:cs typeface="Times New Roman" panose="02020603050405020304"/>
              </a:rPr>
              <a:t>Patel, N., &amp; Chauhan, R. (2020). Environmental Impact-Based Navigation Systems for Urban Areas. Sustainable Tech Review, 4(3), 22-28.</a:t>
            </a:r>
          </a:p>
          <a:p>
            <a:pPr marL="285750" indent="-285750" algn="just">
              <a:lnSpc>
                <a:spcPct val="150000"/>
              </a:lnSpc>
              <a:buFont typeface="Arial" panose="020B0604020202020204"/>
              <a:buChar char="•"/>
              <a:defRPr/>
            </a:pPr>
            <a:r>
              <a:rPr lang="en-US" dirty="0">
                <a:latin typeface="Times New Roman" panose="02020603050405020304"/>
                <a:cs typeface="Times New Roman" panose="02020603050405020304"/>
              </a:rPr>
              <a:t>Saito, Y., &amp; Semba, T. (2022). Green Mobility and SDG 11: Smart Routing Applications. International Journal of Sustainable Urban Planning, 6(4), 55-61.</a:t>
            </a:r>
          </a:p>
          <a:p>
            <a:pPr>
              <a:lnSpc>
                <a:spcPct val="150000"/>
              </a:lnSpc>
              <a:defRPr/>
            </a:pPr>
            <a:endParaRPr lang="en-US" dirty="0">
              <a:latin typeface="Times New Roman" panose="02020603050405020304"/>
              <a:cs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93761277" name="object 2"/>
          <p:cNvPicPr/>
          <p:nvPr/>
        </p:nvPicPr>
        <p:blipFill>
          <a:blip r:embed="rId3"/>
          <a:stretch>
            <a:fillRect/>
          </a:stretch>
        </p:blipFill>
        <p:spPr bwMode="auto">
          <a:xfrm>
            <a:off x="-2138680" y="0"/>
            <a:ext cx="12191999" cy="6858000"/>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Arial"/>
        <a:cs typeface="Arial"/>
      </a:majorFont>
      <a:minorFont>
        <a:latin typeface="Trebuchet MS"/>
        <a:ea typeface="Arial"/>
        <a:cs typeface="Arial"/>
      </a:minorFont>
    </a:fontScheme>
    <a:fmtScheme name="Facet">
      <a:fillStyleLst>
        <a:solidFill>
          <a:schemeClr val="phClr"/>
        </a:solidFill>
        <a:gradFill>
          <a:gsLst>
            <a:gs pos="0">
              <a:schemeClr val="phClr">
                <a:tint val="65000"/>
                <a:lumMod val="110000"/>
              </a:schemeClr>
            </a:gs>
            <a:gs pos="88000">
              <a:schemeClr val="phClr">
                <a:tint val="90000"/>
              </a:schemeClr>
            </a:gs>
          </a:gsLst>
          <a:lin ang="5400000" scaled="0"/>
        </a:gradFill>
        <a:gradFill>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gradFill>
        <a:gradFill>
          <a:gsLst>
            <a:gs pos="0">
              <a:schemeClr val="phClr">
                <a:tint val="90000"/>
                <a:lumMod val="110000"/>
              </a:schemeClr>
            </a:gs>
            <a:gs pos="100000">
              <a:schemeClr val="phClr">
                <a:shade val="94000"/>
                <a:lumMod val="96000"/>
              </a:schemeClr>
            </a:gs>
          </a:gsLst>
          <a:path path="circle"/>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30</TotalTime>
  <Words>1450</Words>
  <Application>Microsoft Office PowerPoint</Application>
  <PresentationFormat>Widescreen</PresentationFormat>
  <Paragraphs>182</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Times New Roman</vt:lpstr>
      <vt:lpstr>Trebuchet MS</vt:lpstr>
      <vt:lpstr>Wingdings</vt:lpstr>
      <vt:lpstr>Wingdings 3</vt:lpstr>
      <vt:lpstr>Facet</vt:lpstr>
      <vt:lpstr>SMART ECO-ROUTING SYSTEM FOR SUSTAINABLE  URBAN MOBILITY</vt:lpstr>
      <vt:lpstr>Overview Of the Presentation</vt:lpstr>
      <vt:lpstr>PowerPoint Presentation</vt:lpstr>
      <vt:lpstr>PowerPoint Presentation</vt:lpstr>
      <vt:lpstr>PowerPoint Presentation</vt:lpstr>
      <vt:lpstr>PowerPoint Presentation</vt:lpstr>
      <vt:lpstr>LITERATURE SURVEY</vt:lpstr>
      <vt:lpstr>GAPS IDENTIFIED</vt:lpstr>
      <vt:lpstr>PROJECT OBJECTIVES</vt:lpstr>
      <vt:lpstr>BLOCK DIAGRAM OF THE EXISTING SYSTEM</vt:lpstr>
      <vt:lpstr>EXISTING SYSTEM</vt:lpstr>
      <vt:lpstr>BLOCK DIAGRAM OF THE PROPOSED SYSTEM</vt:lpstr>
      <vt:lpstr>PROPOSED SYSTEM</vt:lpstr>
      <vt:lpstr>HARDWARE AND SOFTWARE REQUIRED</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beri Ashwini</cp:lastModifiedBy>
  <cp:revision>10</cp:revision>
  <dcterms:created xsi:type="dcterms:W3CDTF">2025-07-08T03:56:00Z</dcterms:created>
  <dcterms:modified xsi:type="dcterms:W3CDTF">2025-10-17T09:44:06Z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846EDA9D8BF44A51B60D988CF1A2FD50_12</vt:lpwstr>
  </property>
  <property fmtid="{D5CDD505-2E9C-101B-9397-08002B2CF9AE}" pid="3" name="KSOProductBuildVer">
    <vt:lpwstr>1033-12.2.0.21931</vt:lpwstr>
  </property>
</Properties>
</file>